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notesSlides/notesSlide2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85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7" r:id="rId13"/>
    <p:sldId id="266" r:id="rId14"/>
    <p:sldId id="286" r:id="rId15"/>
    <p:sldId id="287" r:id="rId16"/>
    <p:sldId id="269" r:id="rId17"/>
    <p:sldId id="270" r:id="rId18"/>
    <p:sldId id="271" r:id="rId19"/>
    <p:sldId id="272" r:id="rId20"/>
    <p:sldId id="288" r:id="rId21"/>
    <p:sldId id="289" r:id="rId22"/>
    <p:sldId id="290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4" r:id="rId34"/>
    <p:sldId id="283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solidFill>
              <a:srgbClr val="C97A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B554C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L_extract</c:v>
                </c:pt>
                <c:pt idx="1">
                  <c:v>L_infer</c:v>
                </c:pt>
                <c:pt idx="2">
                  <c:v>L_decision*</c:v>
                </c:pt>
                <c:pt idx="3">
                  <c:v>L_total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0.52</c:v>
                </c:pt>
                <c:pt idx="1">
                  <c:v>1.02</c:v>
                </c:pt>
                <c:pt idx="2">
                  <c:v>0</c:v>
                </c:pt>
                <c:pt idx="3">
                  <c:v>1.54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13-43DD-B77D-0279C1058D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P95</c:v>
                </c:pt>
              </c:strCache>
            </c:strRef>
          </c:tx>
          <c:spPr>
            <a:solidFill>
              <a:srgbClr val="9C5B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B554C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L_extract</c:v>
                </c:pt>
                <c:pt idx="1">
                  <c:v>L_infer</c:v>
                </c:pt>
                <c:pt idx="2">
                  <c:v>L_decision*</c:v>
                </c:pt>
                <c:pt idx="3">
                  <c:v>L_total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1.45</c:v>
                </c:pt>
                <c:pt idx="1">
                  <c:v>1.33</c:v>
                </c:pt>
                <c:pt idx="2">
                  <c:v>0</c:v>
                </c:pt>
                <c:pt idx="3">
                  <c:v>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13-43DD-B77D-0279C1058D9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P99</c:v>
                </c:pt>
              </c:strCache>
            </c:strRef>
          </c:tx>
          <c:spPr>
            <a:solidFill>
              <a:srgbClr val="A63A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B554C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L_extract</c:v>
                </c:pt>
                <c:pt idx="1">
                  <c:v>L_infer</c:v>
                </c:pt>
                <c:pt idx="2">
                  <c:v>L_decision*</c:v>
                </c:pt>
                <c:pt idx="3">
                  <c:v>L_total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0.81</c:v>
                </c:pt>
                <c:pt idx="1">
                  <c:v>0.72</c:v>
                </c:pt>
                <c:pt idx="2">
                  <c:v>0</c:v>
                </c:pt>
                <c:pt idx="3">
                  <c:v>2.2200000000000002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13-43DD-B77D-0279C1058D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55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D7C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554C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554C"/>
                    </a:solidFill>
                    <a:latin typeface="Arial"/>
                  </a:rPr>
                  <a:t>milliseconds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5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55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DD7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5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(XGBoost + CTGAN+SMOTEENN)</c:v>
                </c:pt>
              </c:strCache>
            </c:strRef>
          </c:tx>
          <c:spPr>
            <a:solidFill>
              <a:srgbClr val="C97A3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01C1A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BENIGN</c:v>
                </c:pt>
                <c:pt idx="1">
                  <c:v>DoS/DDoS</c:v>
                </c:pt>
                <c:pt idx="2">
                  <c:v>BRUTE
FORCE</c:v>
                </c:pt>
                <c:pt idx="3">
                  <c:v>WEB
ATTACK</c:v>
                </c:pt>
                <c:pt idx="4">
                  <c:v>BOTNET</c:v>
                </c:pt>
                <c:pt idx="5">
                  <c:v>INFIL-
TRATION</c:v>
                </c:pt>
                <c:pt idx="6">
                  <c:v>Macro
Avg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0.94</c:v>
                </c:pt>
                <c:pt idx="1">
                  <c:v>1</c:v>
                </c:pt>
                <c:pt idx="2">
                  <c:v>0.98</c:v>
                </c:pt>
                <c:pt idx="3">
                  <c:v>0.99</c:v>
                </c:pt>
                <c:pt idx="4">
                  <c:v>1</c:v>
                </c:pt>
                <c:pt idx="5">
                  <c:v>0.95</c:v>
                </c:pt>
                <c:pt idx="6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83-4ADA-9FD6-2B09340BF5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55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DD7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5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043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[morning/afternoon], Professor Marulli, committee members. My name is Ali Ahson and this is my Master's thesis in Data Science: Latency-Aware Network </a:t>
            </a:r>
            <a:r>
              <a:rPr lang="en-US"/>
              <a:t>Protection  </a:t>
            </a:r>
            <a:r>
              <a:rPr lang="en-US" dirty="0"/>
              <a:t>orchestrating a universal IDS with a machine learning middleware in ISP environments. Before I start, thank you for the detailed feedback on the last draft of this </a:t>
            </a:r>
            <a:r>
              <a:rPr lang="en-US"/>
              <a:t>presentation  </a:t>
            </a:r>
            <a:r>
              <a:rPr lang="en-US" dirty="0"/>
              <a:t>I've restructured the whole talk around it, and I'll flag exactly how as I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shape of the talk, and I want to lead with the gap rather than bury it, since that was the first piece of feedback I got: establish the literature gap up front, not as an afterthought. In one </a:t>
            </a:r>
            <a:r>
              <a:rPr lang="en-US"/>
              <a:t>sentence  </a:t>
            </a:r>
            <a:r>
              <a:rPr lang="en-US" dirty="0"/>
              <a:t>[ACTION ITEM: refine this synthesis sentence in your own words if you'd like it to sit closer to your exact Section 2.8 phrasing</a:t>
            </a:r>
            <a:r>
              <a:rPr lang="en-US"/>
              <a:t>]  </a:t>
            </a:r>
            <a:r>
              <a:rPr lang="en-US" dirty="0"/>
              <a:t>nobody has published a latency-validated way to place ML detection around pfSense, and nobody has given Snort and Suricata one shared interface for ML-driven blocking. Chapter 2 of my thesis identifies five specific gaps; I'll show you, as we go, exactly which architectural component closes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paradox, stated formally: the deeper you inspect, the slower the network </a:t>
            </a:r>
            <a:r>
              <a:rPr lang="en-US"/>
              <a:t>gets  </a:t>
            </a:r>
            <a:r>
              <a:rPr lang="en-US" dirty="0"/>
              <a:t>and both variables matter to an ISP. pfSense forwards in under a tenth of a millisecond. My own header-only classifier runs around four-tenths of a </a:t>
            </a:r>
            <a:r>
              <a:rPr lang="en-US"/>
              <a:t>millisecond  </a:t>
            </a:r>
            <a:r>
              <a:rPr lang="en-US" dirty="0"/>
              <a:t>already four times pfSense's own budget. A deep, payload-reading model costs 5 to 50 milliseconds per packet. At ISP scale, on live football-broadcast traffic, even one extra millisecond is perceptible. Per the feedback, I'm deliberately not spending more time here on general attack-cost </a:t>
            </a:r>
            <a:r>
              <a:rPr lang="en-US"/>
              <a:t>statistics  </a:t>
            </a:r>
            <a:r>
              <a:rPr lang="en-US" dirty="0"/>
              <a:t>the point of this slide isn't 'attacks are expensive,' it's 'this specific latency tension is what I solve.'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FCF1F-7079-1190-5277-7E32857A4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F525F-C307-6C59-31F8-B3F33A522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3725F-F9E7-9E69-6BDC-F45CEADAF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paradox, stated formally: the deeper you inspect, the slower the network </a:t>
            </a:r>
            <a:r>
              <a:rPr lang="en-US"/>
              <a:t>gets  </a:t>
            </a:r>
            <a:r>
              <a:rPr lang="en-US" dirty="0"/>
              <a:t>and both variables matter to an ISP. pfSense forwards in under a tenth of a millisecond. My own header-only classifier runs around four-tenths of a </a:t>
            </a:r>
            <a:r>
              <a:rPr lang="en-US"/>
              <a:t>millisecond  </a:t>
            </a:r>
            <a:r>
              <a:rPr lang="en-US" dirty="0"/>
              <a:t>already four times pfSense's own budget. A deep, payload-reading model costs 5 to 50 milliseconds per packet. At ISP scale, on live football-broadcast traffic, even one extra millisecond is perceptible. Per the feedback, I'm deliberately not spending more time here on general attack-cost </a:t>
            </a:r>
            <a:r>
              <a:rPr lang="en-US"/>
              <a:t>statistics  </a:t>
            </a:r>
            <a:r>
              <a:rPr lang="en-US" dirty="0"/>
              <a:t>the point of this slide isn't 'attacks are expensive,' it's 'this specific latency tension is what I solve.'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31757-5242-3AD9-DC41-2DE41A56C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400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blind spots, and they compound. Behaviour-blind, because rules only see IP and port. No foresight against zero-days. Encryption-blind against the 90%+ of traffic that's now TLS. And CPU contention if you try to bolt heavy analysis onto the same box that's forwarding packets. None of this is a pfSense </a:t>
            </a:r>
            <a:r>
              <a:rPr lang="en-US"/>
              <a:t>misconfiguration  </a:t>
            </a:r>
            <a:r>
              <a:rPr lang="en-US" dirty="0"/>
              <a:t>it's what a stateful packet filter is supposed to do. So the right engineering move isn't to replace pfSense, it's to add a layer next to it. That's ADMO, and that's where the talk goes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feedback specifically asked me to add, and I think it's the right </a:t>
            </a:r>
            <a:r>
              <a:rPr lang="en-US"/>
              <a:t>instinct  </a:t>
            </a:r>
            <a:r>
              <a:rPr lang="en-US" dirty="0"/>
              <a:t>before I talk about any ML architecture, I need to establish that 'just connect an IDS to a firewall' is not a solved, off-the-shelf problem. Two obstacles. First, format incompatibility: Snort speaks Unified2 binary through Barnyard2, Suricata speaks EVE </a:t>
            </a:r>
            <a:r>
              <a:rPr lang="en-US"/>
              <a:t>JSON  </a:t>
            </a:r>
            <a:r>
              <a:rPr lang="en-US" dirty="0"/>
              <a:t>structurally different, no shared schema. Second, neither engine ships a vendor-neutral API for taking a machine-learning verdict and turning it into a rule </a:t>
            </a:r>
            <a:r>
              <a:rPr lang="en-US"/>
              <a:t>update  </a:t>
            </a:r>
            <a:r>
              <a:rPr lang="en-US" dirty="0"/>
              <a:t>that layer doesn't exist until someone builds it. And there's a real trade-off buried in here too: run the IDS inline and you get automated blocking but you pay a latency tax on every packet; run it passively and you pay nothing but get no automated response at all without something like ADMO sitting on top. This is exactly Gaps 1 and 4 from my literature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how bad is this, in numbers the literature already gives us? pfSense forwards in under a tenth of a millisecond. My own header-only classifier lands around four-tenths of a </a:t>
            </a:r>
            <a:r>
              <a:rPr lang="en-US"/>
              <a:t>millisecond  </a:t>
            </a:r>
            <a:r>
              <a:rPr lang="en-US" dirty="0"/>
              <a:t>already several times over </a:t>
            </a:r>
            <a:r>
              <a:rPr lang="en-US"/>
              <a:t>budget  </a:t>
            </a:r>
            <a:r>
              <a:rPr lang="en-US" dirty="0"/>
              <a:t>and that figure is consistent with the sub-millisecond class reported for XGBoost CPU inference in Chen and Guestrin's own paper. Inline deep learning or payload inspection: five to fifty milliseconds per packet. Add a TLS decryption proxy and you're paying another five to eight milliseconds per session on top. And Snort and Suricata's own published false-positive rates run one to ten percent of flows in </a:t>
            </a:r>
            <a:r>
              <a:rPr lang="en-US"/>
              <a:t>production  </a:t>
            </a:r>
            <a:r>
              <a:rPr lang="en-US" dirty="0"/>
              <a:t>which matters because every false positive is a legitimate subscriber connection. Put together: even the cheapest possible inline ML addition costs four times pfSense's entire forwarding budget. That's the severity number the rest of this thesis designs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that, for me, replaces the old 'here's the general threat landscape' framing with something much closer to what the feedback asked for: not a report on the problem, but a direct map from each literature gap to the specific thing I built to close it. Five gaps, five components. I'm going to spend the next several slides walking through the architecture that produces this right-hand column in full technical </a:t>
            </a:r>
            <a:r>
              <a:rPr lang="en-US"/>
              <a:t>detail  </a:t>
            </a:r>
            <a:r>
              <a:rPr lang="en-US" dirty="0"/>
              <a:t>that was explicitly the ask: much more depth on the middle layer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claims, stated plainly, up </a:t>
            </a:r>
            <a:r>
              <a:rPr lang="en-US"/>
              <a:t>front  </a:t>
            </a:r>
            <a:r>
              <a:rPr lang="en-US" dirty="0"/>
              <a:t>this is the direct response to 'shift the narrative away from a general report and strongly highlight your specific contributions.' A header-only detector that's encryption-agnostic and hardware-extractable by design. A CTGAN plus SMOTEENN augmentation </a:t>
            </a:r>
            <a:r>
              <a:rPr lang="en-US"/>
              <a:t>pipeline  </a:t>
            </a:r>
            <a:r>
              <a:rPr lang="en-US" dirty="0"/>
              <a:t>that's my algorithmic contribution, extending Weissman and Jayasumana's CTGAN methodology from benign IoT traffic synthesis into attack-class augmentation, which nobody had published before. A vendor-agnostic orchestrator that drives Snort and Suricata through one interface. And an out-of-band architecture that adds zero synchronous </a:t>
            </a:r>
            <a:r>
              <a:rPr lang="en-US"/>
              <a:t>latency  </a:t>
            </a:r>
            <a:r>
              <a:rPr lang="en-US" dirty="0"/>
              <a:t>by design, not because I bought faster hardware. I'm not going to just assert </a:t>
            </a:r>
            <a:r>
              <a:rPr lang="en-US"/>
              <a:t>these  </a:t>
            </a:r>
            <a:r>
              <a:rPr lang="en-US" dirty="0"/>
              <a:t>every slide from here is evidence for one of these four claims, and I'll call back to them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the components, the </a:t>
            </a:r>
            <a:r>
              <a:rPr lang="en-US"/>
              <a:t>principles  </a:t>
            </a:r>
            <a:r>
              <a:rPr lang="en-US" dirty="0"/>
              <a:t>this is my answer to 'what did you use, and why.' Every one of the five components traces back to one or more of these four. Zero-Latency Invariant is the non-negotiable one: async only, mirrored traffic only. Encryption Agnosticism is what makes header-only features a requirement, not a stylistic </a:t>
            </a:r>
            <a:r>
              <a:rPr lang="en-US"/>
              <a:t>choice  </a:t>
            </a:r>
            <a:r>
              <a:rPr lang="en-US" dirty="0"/>
              <a:t>it's what buys GDPR compliance and TLS-proofing at the same time. Threat-Proportional Response is why there's a cascade instead of one classifier. And IDS Vendor Agnosticism is what forces the orchestrator to be built as an adapter pattern rather than a Suricata-specific or Snort-specific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directly answers 'clarify the architecture.' Top row is the live packet </a:t>
            </a:r>
            <a:r>
              <a:rPr lang="en-US"/>
              <a:t>path  </a:t>
            </a:r>
            <a:r>
              <a:rPr lang="en-US" dirty="0"/>
              <a:t>WAN, pfSense, </a:t>
            </a:r>
            <a:r>
              <a:rPr lang="en-US"/>
              <a:t>LAN  </a:t>
            </a:r>
            <a:r>
              <a:rPr lang="en-US" dirty="0"/>
              <a:t>and ADMO never sits in it. pfSense's own pf engine makes a mirrored copy of inbound </a:t>
            </a:r>
            <a:r>
              <a:rPr lang="en-US"/>
              <a:t>traffic  </a:t>
            </a:r>
            <a:r>
              <a:rPr lang="en-US" dirty="0"/>
              <a:t>a single 'copy to' </a:t>
            </a:r>
            <a:r>
              <a:rPr lang="en-US"/>
              <a:t>directive  </a:t>
            </a:r>
            <a:r>
              <a:rPr lang="en-US" dirty="0"/>
              <a:t>and that copy is the only thing ADMO ever sees. Everything below that line is five components: the Flow Telemetry Engine turns raw mirrored packets into the Golden 12 feature vector; the Three-Tier Cascaded Classifier scores it at one of three speeds; the CTGAN-Enhanced Training Pipeline runs offline and only ever hands over a trained model, never live traffic; the Universal IDS Orchestrator turns a classification into a decision; and the pfSense Rule Injection Interface is the only component that ever writes back to </a:t>
            </a:r>
            <a:r>
              <a:rPr lang="en-US"/>
              <a:t>pfSense  </a:t>
            </a:r>
            <a:r>
              <a:rPr lang="en-US" dirty="0"/>
              <a:t>through the existing snort2c block table, via pfctl. I'll now go component by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Gap 2 from the literature review, closed. Selection was a three-stage funnel: start from all 77 CICFlowMeter features, keep the top 30 by Random Forest importance, then filter by ANOVA significance at p under 0.001, then apply one more filter that most feature-selection papers don't: is this header-extractable, with no dependency on payload content? Twelve features survive all three tests, grouped into Layer-4 header fields, flow-level metadata, and inter-arrival timing. Each one has a specific attack it's best at </a:t>
            </a:r>
            <a:r>
              <a:rPr lang="en-US"/>
              <a:t>flagging  </a:t>
            </a:r>
            <a:r>
              <a:rPr lang="en-US" dirty="0"/>
              <a:t>for instance ACK Flag Count is the primary ACK-flood DDoS signal, Flow IAT Mean catches the regular heartbeat timing of botnet C2 traffic. The headline point is zero payload access anywhere in this </a:t>
            </a:r>
            <a:r>
              <a:rPr lang="en-US"/>
              <a:t>list  </a:t>
            </a:r>
            <a:r>
              <a:rPr lang="en-US" dirty="0"/>
              <a:t>that's one line item, GDPR compliance, TLS survival, and hardware portability, solved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1 is the data-acquisition layer. pfSense's own pf engine mirrors WAN traffic to a dedicated analysis </a:t>
            </a:r>
            <a:r>
              <a:rPr lang="en-US"/>
              <a:t>interface  </a:t>
            </a:r>
            <a:r>
              <a:rPr lang="en-US" dirty="0"/>
              <a:t>that's a single line of pf configuration, 'copy to em1.' CICFlowMeter, the same tool that produced the CICIDS training datasets, watches that interface live and aggregates packets into bidirectional flows. A flow finalises on FIN/RST, a 120-second idle timeout, or a max-duration cap. Its Golden 12 </a:t>
            </a:r>
            <a:r>
              <a:rPr lang="en-US"/>
              <a:t>values  </a:t>
            </a:r>
            <a:r>
              <a:rPr lang="en-US" dirty="0"/>
              <a:t>which I'll detail </a:t>
            </a:r>
            <a:r>
              <a:rPr lang="en-US"/>
              <a:t>next  </a:t>
            </a:r>
            <a:r>
              <a:rPr lang="en-US" dirty="0"/>
              <a:t>land in an in-memory flow cache keyed on the five-tuple, ready for Tier 1 to query. The reason this satisfies the Zero-Latency Invariant is really about ordering: the copy happens after pfSense has already decided to forward the packet, so nothing ADMO does can ever be in the critical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64D10-C5A9-61D9-53F3-43D09D4B7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F310C-9045-304C-DAA0-E8A308072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16228-922D-D465-69E2-1CAF0F2DA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Gap 2 from the literature review, closed. Selection was a three-stage funnel: start from all 77 CICFlowMeter features, keep the top 30 by Random Forest importance, then filter by ANOVA significance at p under 0.001, then apply one more filter that most feature-selection papers don't: is this header-extractable, with no dependency on payload content? Twelve features survive all three tests, grouped into Layer-4 header fields, flow-level metadata, and inter-arrival timing. Each one has a specific attack it's best at </a:t>
            </a:r>
            <a:r>
              <a:rPr lang="en-US"/>
              <a:t>flagging  </a:t>
            </a:r>
            <a:r>
              <a:rPr lang="en-US" dirty="0"/>
              <a:t>for instance ACK Flag Count is the primary ACK-flood DDoS signal, Flow IAT Mean catches the regular heartbeat timing of botnet C2 traffic. The headline point is zero payload access anywhere in this </a:t>
            </a:r>
            <a:r>
              <a:rPr lang="en-US"/>
              <a:t>list  </a:t>
            </a:r>
            <a:r>
              <a:rPr lang="en-US" dirty="0"/>
              <a:t>that's one line item, GDPR compliance, TLS survival, and hardware portability, solved together.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72662-4139-1CE2-CDE7-CA93FCDF21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35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DFB11-381D-D757-B511-E6457005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4553F-BC46-8ECD-5597-F797F1914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1F898-9FAE-BBB7-66B3-8323C4A07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Gap 2 from the literature review, closed. Selection was a three-stage funnel: start from all 77 CICFlowMeter features, keep the top 30 by Random Forest importance, then filter by ANOVA significance at p under 0.001, then apply one more filter that most feature-selection papers don't: is this header-extractable, with no dependency on payload content? Twelve features survive all three tests, grouped into Layer-4 header fields, flow-level metadata, and inter-arrival timing. Each one has a specific attack it's best at </a:t>
            </a:r>
            <a:r>
              <a:rPr lang="en-US"/>
              <a:t>flagging  </a:t>
            </a:r>
            <a:r>
              <a:rPr lang="en-US" dirty="0"/>
              <a:t>for instance ACK Flag Count is the primary ACK-flood DDoS signal, Flow IAT Mean catches the regular heartbeat timing of botnet C2 traffic. The headline point is zero payload access anywhere in this </a:t>
            </a:r>
            <a:r>
              <a:rPr lang="en-US"/>
              <a:t>list  </a:t>
            </a:r>
            <a:r>
              <a:rPr lang="en-US" dirty="0"/>
              <a:t>that's one line item, GDPR compliance, TLS survival, and hardware portability, solved together.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D6A56-91F1-AF53-9AF5-451C7A455F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00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3 runs entirely </a:t>
            </a:r>
            <a:r>
              <a:rPr lang="en-US"/>
              <a:t>offline  </a:t>
            </a:r>
            <a:r>
              <a:rPr lang="en-US" dirty="0"/>
              <a:t>it never sees live traffic, only the training </a:t>
            </a:r>
            <a:r>
              <a:rPr lang="en-US"/>
              <a:t>set  </a:t>
            </a:r>
            <a:r>
              <a:rPr lang="en-US" dirty="0"/>
              <a:t>and it's the piece I'd call my algorithmic contribution. The imbalance is severe: INFILTRATION is 2,000 real samples against 13.2 million BENIGN, a six-thousand-times gap. Plain SMOTE would interpolate linearly between existing points, but a class like BOTNET actually has two distinct behavioural </a:t>
            </a:r>
            <a:r>
              <a:rPr lang="en-US"/>
              <a:t>shapes  </a:t>
            </a:r>
            <a:r>
              <a:rPr lang="en-US" dirty="0"/>
              <a:t>regular command-and-control heartbeats and bursty </a:t>
            </a:r>
            <a:r>
              <a:rPr lang="en-US"/>
              <a:t>exfiltration  </a:t>
            </a:r>
            <a:r>
              <a:rPr lang="en-US" dirty="0"/>
              <a:t>and linear interpolation between those two shapes produces synthetic samples that resemble neither. CTGAN instead fits a mode-specific Gaussian mixture per feature, learns each mode separately, and only then </a:t>
            </a:r>
            <a:r>
              <a:rPr lang="en-US"/>
              <a:t>generates  </a:t>
            </a:r>
            <a:r>
              <a:rPr lang="en-US" dirty="0"/>
              <a:t>SMOTEENN cleans the noisy boundary afterward. The novelty claim, specifically, is applying this CTGAN </a:t>
            </a:r>
            <a:r>
              <a:rPr lang="en-US"/>
              <a:t>methodology  </a:t>
            </a:r>
            <a:r>
              <a:rPr lang="en-US" dirty="0"/>
              <a:t>which Weissman and Jayasumana validated for benign IoT traffic </a:t>
            </a:r>
            <a:r>
              <a:rPr lang="en-US"/>
              <a:t>replication  </a:t>
            </a:r>
            <a:r>
              <a:rPr lang="en-US" dirty="0"/>
              <a:t>to attack-class augmentation, which nobody had published before this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Component 4, and it's the direct fix for the interconnection problem I opened Part 02 with. Both engines write alerts in incompatible formats, so I built one independent adapter for each, and both normalise into a single shared data </a:t>
            </a:r>
            <a:r>
              <a:rPr lang="en-US"/>
              <a:t>contract  </a:t>
            </a:r>
            <a:r>
              <a:rPr lang="en-US" dirty="0"/>
              <a:t>the AlertRecord dataclass: timestamp, five-tuple, classified threat, confidence, the Golden 12 feature values, and a recommended action. The Snort adapter polls a Barnyard2 Unix socket every five seconds; the Suricata adapter watches the EVE JSON log with inotify and reacts near-instantly. From the AlertRecord </a:t>
            </a:r>
            <a:r>
              <a:rPr lang="en-US"/>
              <a:t>onward  </a:t>
            </a:r>
            <a:r>
              <a:rPr lang="en-US" dirty="0"/>
              <a:t>the policy table, the dispatch </a:t>
            </a:r>
            <a:r>
              <a:rPr lang="en-US"/>
              <a:t>logic  </a:t>
            </a:r>
            <a:r>
              <a:rPr lang="en-US" dirty="0"/>
              <a:t>the code has no idea which engine produced the alert. That's what 'vendor-agnostic' means in practice, and it's what my case study in Part 05 actually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5 is the only piece of ADMO that ever writes back to pfSense, and it uses two channels pfSense already has, natively. Immediate IP blocking goes through the snort2c table via </a:t>
            </a:r>
            <a:r>
              <a:rPr lang="en-US"/>
              <a:t>pfctl  </a:t>
            </a:r>
            <a:r>
              <a:rPr lang="en-US" dirty="0"/>
              <a:t>a one-to-two-millisecond kernel call, not a computation, and existing legitimate connections are never touched. Signature </a:t>
            </a:r>
            <a:r>
              <a:rPr lang="en-US"/>
              <a:t>updates  </a:t>
            </a:r>
            <a:r>
              <a:rPr lang="en-US" dirty="0"/>
              <a:t>for the slower, less urgent </a:t>
            </a:r>
            <a:r>
              <a:rPr lang="en-US"/>
              <a:t>classes  </a:t>
            </a:r>
            <a:r>
              <a:rPr lang="en-US" dirty="0"/>
              <a:t>get written to disk and then reloaded asynchronously, SIGHUP for Snort, suricatasc for Suricata, so live inspection is never interrupted mid-flow. The pf rule that actually enforces the block is one pfSense already creates at </a:t>
            </a:r>
            <a:r>
              <a:rPr lang="en-US"/>
              <a:t>boot  </a:t>
            </a:r>
            <a:r>
              <a:rPr lang="en-US" dirty="0"/>
              <a:t>I'm not modifying pfSense's own engine anywhere, only writing into a table it already watches. That's architecturally important: ADMO augments pfSense, it doesn't touch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so far has been architecture. This section is the practical test: I specifically interfaced pfSense with Suricata, not Snort, and that choice was </a:t>
            </a:r>
            <a:r>
              <a:rPr lang="en-US"/>
              <a:t>deliberate  </a:t>
            </a:r>
            <a:r>
              <a:rPr lang="en-US" dirty="0"/>
              <a:t>Suricata is multi-threaded, DPDK-capable, and its EVE JSON output is the richer, more modern schema. It's the harder integration target, so demonstrating it works is the stronger evidence for the vendor-agnostic claim. The lab is a three-VM VirtualBox </a:t>
            </a:r>
            <a:r>
              <a:rPr lang="en-US"/>
              <a:t>topology  </a:t>
            </a:r>
            <a:r>
              <a:rPr lang="en-US" dirty="0"/>
              <a:t>WAN, LAN, and a dedicated analysis </a:t>
            </a:r>
            <a:r>
              <a:rPr lang="en-US"/>
              <a:t>interface  </a:t>
            </a:r>
            <a:r>
              <a:rPr lang="en-US" dirty="0"/>
              <a:t>running pfSense 2.7 on FreeBSD 14, with attack traffic replayed from CICIDS PCAP subsets via Scapy rather than a live attack target, which keeps the experiment controlled and repeatable. Setup itself is four steps: enable the mirror, install Suricata in passive Legacy </a:t>
            </a:r>
            <a:r>
              <a:rPr lang="en-US"/>
              <a:t>mode  </a:t>
            </a:r>
            <a:r>
              <a:rPr lang="en-US" dirty="0"/>
              <a:t>never inline, that would violate the Zero-Latency </a:t>
            </a:r>
            <a:r>
              <a:rPr lang="en-US"/>
              <a:t>Invariant  </a:t>
            </a:r>
            <a:r>
              <a:rPr lang="en-US" dirty="0"/>
              <a:t>confirm the block table exists, and point my adapter at Suricata's EVE JSON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deliberately two-sided, because the feedback specifically asked for advantages AND obstacles, not just a success story. On the advantages side: zero added latency held up in every run; EVE JSON's rich schema gave me HTTP and TLS metadata essentially for free, which strengthened the web-attack and infiltration alert context beyond what Snort's format would have given me; and the async rule-reload meant live inspection was never interrupted. On the obstacles side, the honest ones: getting inotify to correctly tail an append-only, rotating JSON log without missing or double-counting events took real debugging; keeping the live feature schema and the training schema </a:t>
            </a:r>
            <a:r>
              <a:rPr lang="en-US"/>
              <a:t>identical  </a:t>
            </a:r>
            <a:r>
              <a:rPr lang="en-US" dirty="0"/>
              <a:t>train-serving </a:t>
            </a:r>
            <a:r>
              <a:rPr lang="en-US"/>
              <a:t>skew  </a:t>
            </a:r>
            <a:r>
              <a:rPr lang="en-US" dirty="0"/>
              <a:t>was, frankly, most of the engineering effort; my own Windows-plus-WSL2-plus-VirtualBox stack fought me on resource contention; and the first-packet exposure window is a real, structural limitation of being out-of-band, which I'll come back to under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what actually happened, end to end? Replay a DDoS PCAP toward the WAN interface, Suricata and CICFlowMeter observe the mirrored copy, a tier classifier produces a verdict, and within five to ten seconds the orchestrator prints a detection message and the attacker's IP shows up in pfSense's own snort2c </a:t>
            </a:r>
            <a:r>
              <a:rPr lang="en-US"/>
              <a:t>table  </a:t>
            </a:r>
            <a:r>
              <a:rPr lang="en-US" dirty="0"/>
              <a:t>I can check that with a single pfctl command. The whole stack, pfSense VM, CICFlowMeter, and the orchestrator, ran simultaneously inside about 1.8 gigabytes of RAM and well under one CPU core on a normal student laptop. That's the case-study result: the harder, Suricata-based interconnection works end to end, on modest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the numbers themselves, the </a:t>
            </a:r>
            <a:r>
              <a:rPr lang="en-US"/>
              <a:t>method  </a:t>
            </a:r>
            <a:r>
              <a:rPr lang="en-US" dirty="0"/>
              <a:t>because a Master's-level viability claim needs a defensible measurement design, not just a table. Latency is measured at four fixed points, MP1 through MP4, so I can decompose exactly where time goes: feature extraction, inference, and rule injection, separately. Detection performance uses a three-way </a:t>
            </a:r>
            <a:r>
              <a:rPr lang="en-US"/>
              <a:t>comparison  </a:t>
            </a:r>
            <a:r>
              <a:rPr lang="en-US" dirty="0"/>
              <a:t>no augmentation, SMOTE-only, and CTGAN+</a:t>
            </a:r>
            <a:r>
              <a:rPr lang="en-US"/>
              <a:t>SMOTEENN  </a:t>
            </a:r>
            <a:r>
              <a:rPr lang="en-US" dirty="0"/>
              <a:t>specifically so I can isolate CTGAN's marginal contribution over plain SMOTE, not just show augmentation helps in general. Everything is measured over 1,000 trials with a proper warm-up and single-core pinning to remove noise, and reported at P50/P95/P99, not just an average. And critically, there's a leakage guard: the test set is entirely real records, and any synthetic training sample too close to a real test point gets thrown out. The numbers on the next four slides are measured this </a:t>
            </a:r>
            <a:r>
              <a:rPr lang="en-US"/>
              <a:t>way  </a:t>
            </a:r>
            <a:r>
              <a:rPr lang="en-US" dirty="0"/>
              <a:t>or will be, once I run the final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Latency, decomposed at MP1 through MP4. The bars you're seeing right now are the expected-range midpoints from my thesis draft, not final </a:t>
            </a:r>
            <a:r>
              <a:rPr lang="en-US"/>
              <a:t>measurements  </a:t>
            </a:r>
            <a:r>
              <a:rPr lang="en-US" dirty="0"/>
              <a:t>I want to be upfront about that rather than presenting them as settled. Feature extraction is the dominant cost, at an expected two-and-a-half milliseconds median; inference itself is well under half a millisecond; injection is another one-point-two. What's NOT a placeholder is the pfSense forwarding </a:t>
            </a:r>
            <a:r>
              <a:rPr lang="en-US"/>
              <a:t>number  </a:t>
            </a:r>
            <a:r>
              <a:rPr lang="en-US" dirty="0"/>
              <a:t>zero milliseconds, at every percentile, and that's not a measurement I'm hoping for, it's a direct architectural consequence of never touching the live path. The remaining action item is to actually run the thousand-trial benchmark script and swap these draft numbers for the real ones, plus attach a tcpdump capture as the empirical confirmation of that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honesty </a:t>
            </a:r>
            <a:r>
              <a:rPr lang="en-US"/>
              <a:t>here  </a:t>
            </a:r>
            <a:r>
              <a:rPr lang="en-US" dirty="0"/>
              <a:t>these bars are draft midpoints from my expected ranges, clearly marked, not final results. Macro-F1, the metric that actually matters given 83% of the data is BENIGN, sits at a draft point of 0.91. The number I actually care about defending is the delta: INFILTRATION goes from roughly 0.42 with no augmentation to roughly 0.77 with CTGAN plus </a:t>
            </a:r>
            <a:r>
              <a:rPr lang="en-US"/>
              <a:t>SMOTEENN  </a:t>
            </a:r>
            <a:r>
              <a:rPr lang="en-US" dirty="0"/>
              <a:t>that's the direct evidence for claim two, that the augmentation pipeline makes a rare class learnable at all. Action item, same as the last slide: run the real evaluation script on the held-out test </a:t>
            </a:r>
            <a:r>
              <a:rPr lang="en-US"/>
              <a:t>split  </a:t>
            </a:r>
            <a:r>
              <a:rPr lang="en-US" dirty="0"/>
              <a:t>real records only, per the leakage </a:t>
            </a:r>
            <a:r>
              <a:rPr lang="en-US"/>
              <a:t>guard  </a:t>
            </a:r>
            <a:r>
              <a:rPr lang="en-US" dirty="0"/>
              <a:t>and replace every one of these bars with the measured number before the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decides which model I'd actually recommend deploying, and it's a genuine trade-off, not a blowout. XGBoost wins on Macro-F1 and specifically on INFILTRATION F1, and it's marginally faster at </a:t>
            </a:r>
            <a:r>
              <a:rPr lang="en-US"/>
              <a:t>inference  </a:t>
            </a:r>
            <a:r>
              <a:rPr lang="en-US" dirty="0"/>
              <a:t>which is the metric that matters most for a real-time security layer. LightGBM wins decisively on training time, three times faster, and on memory footprint. My recommendation is XGBoost as the primary model precisely because minority-class detection is the whole point of this thesis, but I say explicitly that LightGBM is the right call if you need frequent retraining against concept drift or you're memory-constrained. All of these values are still draft ranges from my </a:t>
            </a:r>
            <a:r>
              <a:rPr lang="en-US"/>
              <a:t>thesis  </a:t>
            </a:r>
            <a:r>
              <a:rPr lang="en-US" dirty="0"/>
              <a:t>the actual head-to-head run against both held-out test data is the outstanding action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false-positive question is the one Telecom Italia's operations team would actually ask, so it gets its own slide. At the scale we're talking </a:t>
            </a:r>
            <a:r>
              <a:rPr lang="en-US"/>
              <a:t>about  </a:t>
            </a:r>
            <a:r>
              <a:rPr lang="en-US" dirty="0"/>
              <a:t>a million flows a </a:t>
            </a:r>
            <a:r>
              <a:rPr lang="en-US"/>
              <a:t>day  </a:t>
            </a:r>
            <a:r>
              <a:rPr lang="en-US" dirty="0"/>
              <a:t>even a fraction of a percent FPR translates into thousands of legitimate subscriber connections touched daily. Overall draft FPR sits around 0.4 to 1.2 percent, which is in the range considered acceptable for a first-generation ML-IDS deployment, but it's not nothing. The important point is that it's tunable: raising the DDoS confidence threshold from 0.85 to 0.92 cuts that class's false-positive rate by roughly 60%, at a 3 to 5 percent cost in recall. That's a dial the operations team gets to turn, not a fixed flaw in the design. Same caveat as the last three slides: these are draft figures, and the real confusion-matrix numbers from the evaluation script are the outstanding action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viable or </a:t>
            </a:r>
            <a:r>
              <a:rPr lang="en-US"/>
              <a:t>not  </a:t>
            </a:r>
            <a:r>
              <a:rPr lang="en-US" dirty="0"/>
              <a:t>the direct answer, per research question. RQ1, the feature-reduced classifier: architecturally yes, at a small, well-justified accuracy cost in exchange for TLS survival and GDPR </a:t>
            </a:r>
            <a:r>
              <a:rPr lang="en-US"/>
              <a:t>compliance  </a:t>
            </a:r>
            <a:r>
              <a:rPr lang="en-US" dirty="0"/>
              <a:t>final confirmation is pending the real numbers. RQ2, CTGAN over plain SMOTE: the mechanism is sound and the expected gain is large, same caveat. RQ3, does out-of-band placement kill inline latency: yes, and this is the one I can defend unconditionally today, because it's a consequence of the architecture, not a statistical result that could go the other way. My honest framing, and I'd rather say this myself than have it asked: ADMO is viable in architecture and as a working proof of concept right now. Whether it's viable at Telecom Italia's actual production scale needs the Chapter 6 numbers filled in, and a roughly ten-thousand-times throughput scaling path that Chapter 7 lays out but does not yet demonstrate.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limitations, named the way I'd want a reviewer to name them, not softened. First-packet exposure is the structural price of being </a:t>
            </a:r>
            <a:r>
              <a:rPr lang="en-US"/>
              <a:t>out-of-band  </a:t>
            </a:r>
            <a:r>
              <a:rPr lang="en-US" dirty="0"/>
              <a:t>bounded for a flood, permanent for a single-shot zero-day, and the fix is a thin inline signature layer for exactly that narrow case. My training data is seven to eight years old, so today's numbers are an upper bound, not a live-traffic </a:t>
            </a:r>
            <a:r>
              <a:rPr lang="en-US"/>
              <a:t>guarantee  </a:t>
            </a:r>
            <a:r>
              <a:rPr lang="en-US" dirty="0"/>
              <a:t>quarterly retraining is the fix, and the CTGAN pipeline is already built for it. The five-minute batch window is fine for slow campaigns and risky for flash events. Everything was measured on a student laptop, so treat every latency figure as a conservative ceiling, not a floor. And this has only been validated for one ISP's pfSense </a:t>
            </a:r>
            <a:r>
              <a:rPr lang="en-US"/>
              <a:t>environment  </a:t>
            </a:r>
            <a:r>
              <a:rPr lang="en-US" dirty="0"/>
              <a:t>Component 5 specifically would need rework for a different network OS. None of these are things I'm hoping the committee doesn't ask </a:t>
            </a:r>
            <a:r>
              <a:rPr lang="en-US"/>
              <a:t>about  </a:t>
            </a:r>
            <a:r>
              <a:rPr lang="en-US" dirty="0"/>
              <a:t>I'd rather raise them myself.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 to where I started. Four claims, and I've tried to show evidence for each rather than just assert them again: the Golden 12 feature set, encryption-agnostic and hardware-extractable by construction; the CTGAN plus SMOTEENN pipeline, the piece I'd call genuinely novel; a vendor-agnostic orchestrator that I didn't just design but actually exercised end-to-end against Suricata in the case study; and an out-of-band architecture whose zero-latency property is architectural, not a measurement I got lucky on. So, to close in the words I'd want to leave the committee with: ISPs shouldn't have to choose between watching for attacks and keeping the network fast. ADMO is a working demonstration that they don't have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</a:t>
            </a:r>
            <a:r>
              <a:rPr lang="en-US"/>
              <a:t>you  </a:t>
            </a:r>
            <a:r>
              <a:rPr lang="en-US" dirty="0"/>
              <a:t>I'm glad to take questions on any part of this, from the literature gap through to the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I've kept the same IEEE numbering as the thesis itself throughout this talk, so any bracket you saw on an earlier slide traces back to this exact </a:t>
            </a:r>
            <a:r>
              <a:rPr lang="en-US"/>
              <a:t>list  </a:t>
            </a:r>
            <a:r>
              <a:rPr lang="en-US" dirty="0"/>
              <a:t>and to the full 14-entry list in the thesis References section, pages 82 to 83.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vanvitell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27" y="338366"/>
            <a:ext cx="3186598" cy="13989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3317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DEGREE IN DATA SCIENCE  ·  MACHINE LEARNING &amp; ARTIFICIAL INTELLIGENCE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26517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Latency-Aware Network Protection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3520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Orchestrating Universal IDS with a Machine Learning Middleware in ISP Environments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48640" y="4526280"/>
            <a:ext cx="5120640" cy="0"/>
          </a:xfrm>
          <a:prstGeom prst="line">
            <a:avLst/>
          </a:prstGeom>
          <a:noFill/>
          <a:ln w="12700">
            <a:solidFill>
              <a:srgbClr val="DDD7C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709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
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Ahson  (Matr. B33000053)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35040" y="4709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
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Fiammetta Marulli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della Campania "Luigi Vanvitelli"   ·   Dipartimento di Matematica e Fisica   ·   A.Y. 2025/2026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01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Talk Covers  and the Gap It Fills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4173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</a:t>
            </a:r>
            <a:r>
              <a:rPr lang="en-US" sz="115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Latency-Inspection Paradox, and why pfSense alone can't resolve 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interconnection challenge  </a:t>
            </a:r>
            <a:r>
              <a:rPr lang="en-US" sz="115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wiring an IDS into a firewall is a real engineering problem, not a config toggle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 </a:t>
            </a:r>
            <a:r>
              <a:rPr lang="en-US" sz="115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ADMO's five components, in full technical detail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study  </a:t>
            </a:r>
            <a:r>
              <a:rPr lang="en-US" sz="115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pfSense with Suricata: advantages, obstacles, results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2461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numerical proof  </a:t>
            </a:r>
            <a:r>
              <a:rPr lang="en-US" sz="115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detection numbers that decide viability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7033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 </a:t>
            </a:r>
            <a:r>
              <a:rPr lang="en-US" sz="115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Contributions, limitations, and an honest answer to “did it work?”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1417320"/>
            <a:ext cx="4800600" cy="4709160"/>
          </a:xfrm>
          <a:prstGeom prst="roundRect">
            <a:avLst>
              <a:gd name="adj" fmla="val 1553"/>
            </a:avLst>
          </a:prstGeom>
          <a:solidFill>
            <a:srgbClr val="2B2723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LITERATURE GAP, IN ONE SENTENCE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78040" y="20574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published work validates a latency-aware ML placement for pfSense, or gives Snort and Suricata a shared, vendor-agnostic interface for ML-driven blocking.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178040" y="3520440"/>
            <a:ext cx="4206240" cy="0"/>
          </a:xfrm>
          <a:prstGeom prst="line">
            <a:avLst/>
          </a:prstGeom>
          <a:noFill/>
          <a:ln w="12700">
            <a:solidFill>
              <a:srgbClr val="4540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3657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gaps identified in the literature review (Ch. 2)  each maps to one part of this architecture: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78040" y="4096512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–"/>
            </a:pPr>
            <a:r>
              <a:rPr lang="en-US" sz="100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1. No latency-aware ML placement analysis for pfSense at ISP scale</a:t>
            </a:r>
            <a:endParaRPr lang="en-US" sz="10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2. No encryption-agnostic feature set validated for pfSense-integrated IDS</a:t>
            </a:r>
            <a:endParaRPr lang="en-US" sz="10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3. No CTGAN augmentation applied to minority attack classes</a:t>
            </a:r>
            <a:endParaRPr lang="en-US" sz="10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4. No IDS-vendor-agnostic orchestration for Snort + Suricata together</a:t>
            </a:r>
            <a:endParaRPr lang="en-US" sz="10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5. No threat-proportional (multi-speed) ML response architecture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GAP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Latency-Inspection Paradox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high-speed ISP environments, the computational depth needed to catch behavioural threats is inversely proportional to the latency budget available per packet.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2606040"/>
            <a:ext cx="3291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5C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&lt;0.1 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25880" y="345643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packet forwarding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3758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filtering, per routing decision [14]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0" y="2606040"/>
            <a:ext cx="3657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A6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5–50 ms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772400" y="34564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deep/payload inspection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3758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packet, in the forwarding path [6]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F3F0E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262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cheapest inline ML tax is </a:t>
            </a:r>
            <a:r>
              <a:rPr lang="en-US" sz="135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~16× </a:t>
            </a:r>
            <a:r>
              <a:rPr lang="en-US" sz="1350" b="1" dirty="0" err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pfSense's</a:t>
            </a:r>
            <a:r>
              <a:rPr lang="en-US" sz="135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entire forwarding budget</a:t>
            </a:r>
            <a:r>
              <a:rPr lang="en-US" sz="13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At Telecom Italia's peak load  live football broadcasts pushing the network to near-capacity  a 1 </a:t>
            </a:r>
            <a:r>
              <a:rPr lang="en-US" sz="1350" dirty="0" err="1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3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per-packet increase is enough to create measurable jitter in real-time video and VoIP traffic. Doing inspection “the obvious way” directly degrades the thing the ISP is trying to protect.</a:t>
            </a:r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thesis exists to dissolve this trade-off  not just describe it.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32</a:t>
            </a:r>
            <a:endParaRPr lang="en-US" sz="9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F9F882FE-EA9D-E16D-AAF3-0F1E76FB620B}"/>
              </a:ext>
            </a:extLst>
          </p:cNvPr>
          <p:cNvSpPr/>
          <p:nvPr/>
        </p:nvSpPr>
        <p:spPr>
          <a:xfrm>
            <a:off x="4617720" y="2606040"/>
            <a:ext cx="3291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~1.6 ms</a:t>
            </a:r>
            <a:endParaRPr lang="en-US" sz="40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9E5E3E9F-050A-69A6-0187-79671FDB249C}"/>
              </a:ext>
            </a:extLst>
          </p:cNvPr>
          <p:cNvSpPr/>
          <p:nvPr/>
        </p:nvSpPr>
        <p:spPr>
          <a:xfrm>
            <a:off x="4617720" y="345643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Header-only ML inference</a:t>
            </a:r>
            <a:endParaRPr lang="en-US" sz="12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041BEB62-7AB6-0C04-A7DA-A27E403916F1}"/>
              </a:ext>
            </a:extLst>
          </p:cNvPr>
          <p:cNvSpPr/>
          <p:nvPr/>
        </p:nvSpPr>
        <p:spPr>
          <a:xfrm>
            <a:off x="4617720" y="3758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fast-path, measured  this work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DE5E6-4EE7-8CAF-9702-6D2F6AF63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3C6BEC-8A3D-7153-2E9A-C2074355DBDC}"/>
              </a:ext>
            </a:extLst>
          </p:cNvPr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WHY IT MATTERS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C66999-FC7E-39D6-DEAA-3AE92F64E8B3}"/>
              </a:ext>
            </a:extLst>
          </p:cNvPr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is real, and the dangerous attacks are the quiet ones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FFAEF08-99D4-0C0A-6726-FC56E8DF571F}"/>
              </a:ext>
            </a:extLst>
          </p:cNvPr>
          <p:cNvSpPr/>
          <p:nvPr/>
        </p:nvSpPr>
        <p:spPr>
          <a:xfrm>
            <a:off x="548640" y="434340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F3F0EC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346FC3B-5126-633E-ED3B-5E084973DB46}"/>
              </a:ext>
            </a:extLst>
          </p:cNvPr>
          <p:cNvSpPr/>
          <p:nvPr/>
        </p:nvSpPr>
        <p:spPr>
          <a:xfrm>
            <a:off x="822960" y="45262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400" b="1" dirty="0">
                <a:solidFill>
                  <a:srgbClr val="9C7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attacks are quiet and encrypted. A single fast filter misses them. That is the setup for the whole architecture</a:t>
            </a:r>
            <a:br>
              <a:rPr lang="en-US" sz="1400" b="1" dirty="0">
                <a:solidFill>
                  <a:srgbClr val="9C7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r>
              <a:rPr lang="en-US" sz="1400" i="1" dirty="0" err="1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MazeBolt</a:t>
            </a:r>
            <a:r>
              <a:rPr lang="en-US" sz="14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Annual Trends 2025; Radware Global Threat Report 2026; Zayo DDoS Insights 2024 &amp; 2026 (telecom share fell 42% → 24%); Cloudflare Radar</a:t>
            </a:r>
            <a:endParaRPr lang="en-US" sz="13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89C5FC7-F51B-0DAE-C6A5-31C1C874D862}"/>
              </a:ext>
            </a:extLst>
          </p:cNvPr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9ACED2A-D1B9-71F0-CD65-A6C2F1893529}"/>
              </a:ext>
            </a:extLst>
          </p:cNvPr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32</a:t>
            </a:r>
            <a:endParaRPr lang="en-US" sz="9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FB3B906F-D4DD-B311-2398-6BD44C1A7703}"/>
              </a:ext>
            </a:extLst>
          </p:cNvPr>
          <p:cNvSpPr/>
          <p:nvPr/>
        </p:nvSpPr>
        <p:spPr>
          <a:xfrm>
            <a:off x="384048" y="1843515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/>
          <a:effectLst>
            <a:outerShdw blurRad="889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ED443634-4227-4A0F-821A-652298F28DA3}"/>
              </a:ext>
            </a:extLst>
          </p:cNvPr>
          <p:cNvSpPr/>
          <p:nvPr/>
        </p:nvSpPr>
        <p:spPr>
          <a:xfrm>
            <a:off x="475488" y="2044683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A6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$22,000</a:t>
            </a:r>
            <a:endParaRPr lang="en-US" sz="44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ECA4CC05-A572-34AD-4E11-A1B8766303E0}"/>
              </a:ext>
            </a:extLst>
          </p:cNvPr>
          <p:cNvSpPr/>
          <p:nvPr/>
        </p:nvSpPr>
        <p:spPr>
          <a:xfrm>
            <a:off x="530352" y="2940795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minute of DDoS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</a:t>
            </a:r>
            <a:endParaRPr lang="en-US" sz="135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1C9968F9-7B3A-F56A-B2ED-E36A62839B8A}"/>
              </a:ext>
            </a:extLst>
          </p:cNvPr>
          <p:cNvSpPr/>
          <p:nvPr/>
        </p:nvSpPr>
        <p:spPr>
          <a:xfrm>
            <a:off x="475488" y="3608307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MazeBolt, 2025</a:t>
            </a:r>
            <a:endParaRPr lang="en-US" sz="1000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21D2BD62-4EA3-A5C9-9A2C-45FC1BE542B9}"/>
              </a:ext>
            </a:extLst>
          </p:cNvPr>
          <p:cNvSpPr/>
          <p:nvPr/>
        </p:nvSpPr>
        <p:spPr>
          <a:xfrm>
            <a:off x="3255264" y="1843515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/>
          <a:effectLst>
            <a:outerShdw blurRad="889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0562C99A-BE42-D317-FDE0-D6F21281793A}"/>
              </a:ext>
            </a:extLst>
          </p:cNvPr>
          <p:cNvSpPr/>
          <p:nvPr/>
        </p:nvSpPr>
        <p:spPr>
          <a:xfrm>
            <a:off x="3346704" y="2044683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6F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94.4%</a:t>
            </a:r>
            <a:endParaRPr lang="en-US" sz="44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159B77E3-F3BC-BB65-A6F2-9FB8583BEA68}"/>
              </a:ext>
            </a:extLst>
          </p:cNvPr>
          <p:cNvSpPr/>
          <p:nvPr/>
        </p:nvSpPr>
        <p:spPr>
          <a:xfrm>
            <a:off x="3401568" y="2940795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web DDoS stays under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requests / second</a:t>
            </a:r>
            <a:endParaRPr lang="en-US" sz="135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A3BBAC13-9929-00F2-BA7A-F11BEAF6552F}"/>
              </a:ext>
            </a:extLst>
          </p:cNvPr>
          <p:cNvSpPr/>
          <p:nvPr/>
        </p:nvSpPr>
        <p:spPr>
          <a:xfrm>
            <a:off x="3346704" y="3608307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Radware, 2026</a:t>
            </a:r>
            <a:endParaRPr lang="en-US" sz="100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97D43F7B-6F73-F60C-BD6B-B06B76E8A6AA}"/>
              </a:ext>
            </a:extLst>
          </p:cNvPr>
          <p:cNvSpPr/>
          <p:nvPr/>
        </p:nvSpPr>
        <p:spPr>
          <a:xfrm>
            <a:off x="6126480" y="1843515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/>
          <a:effectLst>
            <a:outerShdw blurRad="889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B20F73F1-BB2C-976B-0441-D13C8F392C8F}"/>
              </a:ext>
            </a:extLst>
          </p:cNvPr>
          <p:cNvSpPr/>
          <p:nvPr/>
        </p:nvSpPr>
        <p:spPr>
          <a:xfrm>
            <a:off x="6217920" y="2044683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C74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44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2D7EC2EA-D9A5-8836-B14D-44DAEA3B54B0}"/>
              </a:ext>
            </a:extLst>
          </p:cNvPr>
          <p:cNvSpPr/>
          <p:nvPr/>
        </p:nvSpPr>
        <p:spPr>
          <a:xfrm>
            <a:off x="6272784" y="2940795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DDoS hit telecom in 2024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to 24% in 2025</a:t>
            </a:r>
            <a:endParaRPr lang="en-US" sz="135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ECBDFED0-2140-1DDA-1C03-8CC7AD68AB9A}"/>
              </a:ext>
            </a:extLst>
          </p:cNvPr>
          <p:cNvSpPr/>
          <p:nvPr/>
        </p:nvSpPr>
        <p:spPr>
          <a:xfrm>
            <a:off x="6217920" y="3608307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Zayo, 2024 &amp; 2026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F23D6445-C269-AC7D-A649-2DBFA80C65E2}"/>
              </a:ext>
            </a:extLst>
          </p:cNvPr>
          <p:cNvSpPr/>
          <p:nvPr/>
        </p:nvSpPr>
        <p:spPr>
          <a:xfrm>
            <a:off x="8997696" y="1843515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/>
          <a:effectLst>
            <a:outerShdw blurRad="889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5D610A79-D893-A6A8-ED81-42490CA1F7C0}"/>
              </a:ext>
            </a:extLst>
          </p:cNvPr>
          <p:cNvSpPr/>
          <p:nvPr/>
        </p:nvSpPr>
        <p:spPr>
          <a:xfrm>
            <a:off x="9089136" y="2044683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33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&gt;90%</a:t>
            </a:r>
            <a:endParaRPr lang="en-US" sz="44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26856D0C-AEAD-28E7-62E8-20894DCE1FCD}"/>
              </a:ext>
            </a:extLst>
          </p:cNvPr>
          <p:cNvSpPr/>
          <p:nvPr/>
        </p:nvSpPr>
        <p:spPr>
          <a:xfrm>
            <a:off x="9144000" y="2940795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web traffic is encrypted;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are off-limits</a:t>
            </a:r>
            <a:endParaRPr lang="en-US" sz="135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E3DE1BBD-9ADF-7089-230D-207D5E380AAB}"/>
              </a:ext>
            </a:extLst>
          </p:cNvPr>
          <p:cNvSpPr/>
          <p:nvPr/>
        </p:nvSpPr>
        <p:spPr>
          <a:xfrm>
            <a:off x="9089136" y="3608307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Radar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75005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Structural Blind Spots in pfSense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F3F0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20574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Behaviour-blind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496312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see IP and port, not how a connection behaves over time. A large download and an exfiltration look identical.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F3F0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47872" y="20574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foresight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47872" y="2496312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needs a known-bad address or signature. Against a genuine zero-day, pfSense offers nothing.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F3F0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82512" y="20574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Encryption-blind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2496312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90% of traffic is TLS. Reading payloads needs decryption  added latency, CPU cost, and GDPR exposure.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50876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F3F0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17152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7152" y="20574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contention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17152" y="2496312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processor is tuned for one job: forwarding. Heavy analysis on the same box degrades routing for everyone.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0881360" cy="1737360"/>
          </a:xfrm>
          <a:prstGeom prst="roundRect">
            <a:avLst>
              <a:gd name="adj" fmla="val 3684"/>
            </a:avLst>
          </a:prstGeom>
          <a:solidFill>
            <a:srgbClr val="201C1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062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are not configuration mistakes.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57200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architectural constraints of a stateful packet filter built for high-speed forwarding, not behavioural analysis. The correct response is not to modify or replace </a:t>
            </a:r>
            <a:r>
              <a:rPr lang="en-US" sz="1200" dirty="0" err="1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r>
              <a:rPr lang="en-US" sz="120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it's to augment it with a complementary intelligence layer that fixes each blind spot while preserving pfSense's forwarding speed. That is ADMO's entire design premise, and the subject of the rest of this talk.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THE INTERCONNECTION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 an IDS to a Firewall Isn't a Config Toggle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and technological viability problem this thesis had to solve before any ML question mattered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2788920"/>
          </a:xfrm>
          <a:prstGeom prst="roundRect">
            <a:avLst>
              <a:gd name="adj" fmla="val 2295"/>
            </a:avLst>
          </a:prstGeom>
          <a:solidFill>
            <a:srgbClr val="F3F0E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INCOMPATIBILITY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3  →  </a:t>
            </a: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Unified2 binary log, read via Barnyard2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7  →  </a:t>
            </a: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JSON, a self-describing event stream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4800600" cy="0"/>
          </a:xfrm>
          <a:prstGeom prst="line">
            <a:avLst/>
          </a:prstGeom>
          <a:noFill/>
          <a:ln w="12700">
            <a:solidFill>
              <a:srgbClr val="DDD7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8404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dominant open-source engines, two structurally different output formats. Any unifying layer needs an independent adapter for each  there is no shared schema to read once.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148840"/>
            <a:ext cx="5257800" cy="2788920"/>
          </a:xfrm>
          <a:prstGeom prst="roundRect">
            <a:avLst>
              <a:gd name="adj" fmla="val 2295"/>
            </a:avLst>
          </a:prstGeom>
          <a:solidFill>
            <a:srgbClr val="F3F0E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3317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VENDOR-NEUTRAL FEEDBACK PATH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engine exposes a standard API for receiving an ML verdict and turning it into a rule update  that integration layer simply doesn't exist upstream.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3703320"/>
            <a:ext cx="4800600" cy="0"/>
          </a:xfrm>
          <a:prstGeom prst="line">
            <a:avLst/>
          </a:prstGeom>
          <a:noFill/>
          <a:ln w="12700">
            <a:solidFill>
              <a:srgbClr val="DDD7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8404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A6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IPS mode  </a:t>
            </a: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auto-blocks, but sits in the packet path and taxes every packet.
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5C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NIDS mode  </a:t>
            </a: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zero forwarding cost, but zero automated response without an orchestration layer.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166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Gap 1 and Gap 4 from the literature review. 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INTERCONNECTION CHALLENGE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THE INTERCONNECTION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Costly Is Interfacing These Systems? The Literature's Numbers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94531"/>
              </p:ext>
            </p:extLst>
          </p:nvPr>
        </p:nvGraphicFramePr>
        <p:xfrm>
          <a:off x="548640" y="1508760"/>
          <a:ext cx="10881360" cy="3072384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pfSense (pf engine) packet forwarding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63A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 100 µs  (0.1 ms)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 err="1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Netgate</a:t>
                      </a:r>
                      <a:r>
                        <a:rPr lang="en-US" sz="11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, pfSense docs [14]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Header-only ML inference (XGBoost, CPU)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63A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1.63 </a:t>
                      </a:r>
                      <a:r>
                        <a:rPr lang="en-US" sz="1150" dirty="0" err="1">
                          <a:solidFill>
                            <a:srgbClr val="A63A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ms</a:t>
                      </a:r>
                      <a:r>
                        <a:rPr lang="en-US" sz="1150" dirty="0">
                          <a:solidFill>
                            <a:srgbClr val="A63A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measured (mean); target &lt;0.5 </a:t>
                      </a:r>
                      <a:r>
                        <a:rPr lang="en-US" sz="1150" dirty="0" err="1">
                          <a:solidFill>
                            <a:srgbClr val="A63A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  Ch.6 Type A benchmark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deep-learning / payload inspection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63A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– 50 ms per packet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published range [13]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TLS decryption proxy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63A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+5 – 8 ms per session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Radar, 2023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Snort / Suricata false-positive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63A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– 10% of flows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Roesch [5]; OISF [13]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201C1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9377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cheapest inline ML tax is </a:t>
            </a:r>
            <a:r>
              <a:rPr lang="en-US" sz="1400" b="1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~16× pfSense's entire forwarding budget</a:t>
            </a:r>
            <a:r>
              <a:rPr lang="en-US" sz="140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that's before payload-level inspection, which is 50–500× over budget. This is the severity this thesis had to design around, not just note.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INTERCONNECTION CHALLENGE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01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WHAT I BUILT, AND WHY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Literature Gaps, Five Concrete Answers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95020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missing in prior 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built to close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97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3F0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latency-aware ML placement analysis for pfSense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97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Out-of-band placement + MP1–MP4 latency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97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3F0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encryption-agnostic feature set for pfSense-integrated 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97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Golden 12 header-only feature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97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3F0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CTGAN applied to minority attack-class synthesis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97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CTGAN + SMOTEENN dual augmentation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97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3F0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vendor-agnostic orchestration for Snort + Suricata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97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Universal IDS Orchestrator (adapter pattern)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97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3F0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threat-proportional, multi-speed response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97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Three-Tier Cascaded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BUILT, AND WHY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1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WHAT I BUILT, AND WHY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Claims I Will Prove Today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2B2723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205740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12-feature, header-only, encryption-agnostic detector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496312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Random-Forest importance, then ANOVA significance, then a hardware-extractability filter  built to survive TLS and run on future SmartNIC hardware.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2B2723"/>
          </a:solidFill>
          <a:ln/>
        </p:spPr>
      </p:sp>
      <p:sp>
        <p:nvSpPr>
          <p:cNvPr id="9" name="Text 7"/>
          <p:cNvSpPr/>
          <p:nvPr/>
        </p:nvSpPr>
        <p:spPr>
          <a:xfrm>
            <a:off x="6382512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82512" y="205740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CTGAN + SMOTEENN pipeline that makes rare attacks learnable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82512" y="2496312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algorithmic contribution: extends Weissman &amp; Jayasumana's CTGAN methodology [10] from benign IoT synthesis to minority attack-class augmentation  not previously documented.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2B2723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7673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3232" y="420624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vendor-agnostic orchestrator driving Snort AND Suricata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4645152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AlertRecord interface, two independent adapters  directly resolving the interconnection challenge from Part 02.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2B2723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37673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82512" y="420624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out-of-band architecture with zero synchronous latency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4645152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design, not by hardware spend: the live packet path never touches an ML model.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from here on is evidence for these four claims.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BUILT, AND WHY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THE MIDDLE LAYER, IN DETAIL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Principles That Constrain Every Design Choice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3F0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72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Zero-Latency Invariant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450592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must never add measurable latency to the forwarding path. All processing is asynchronous, on mirrored traffic only. Non-negotiable  1ms at ISP scale is perceptible.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3F0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2512" y="1572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82512" y="201168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Agnosticism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82512" y="2450592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uses only header metadata and timing  never payload. Removes the 5–8ms TLS-decryption tax, keeps GDPR Art. 5(1)(c)/25 compliance, and survives any future encryption protocol.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3F0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37216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3232" y="416052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Threat-Proportional Response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4599432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volumetric flood needs a sub-second block; a slow infiltration needs deep, human-reviewed analysis. One uniform detection latency for all traffic is the wrong design.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611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3F0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2512" y="37216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82512" y="416052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Vendor Agnosticism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4599432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 and the pfSense write-back must be decoupled from any one IDS backend, so Snort and Suricata can be deployed, swapped, or run together.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LAYER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6D1A8775-703E-9B22-21F7-C1EE4C0E5A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0" t="6080" r="2903" b="3812"/>
          <a:stretch>
            <a:fillRect/>
          </a:stretch>
        </p:blipFill>
        <p:spPr>
          <a:xfrm>
            <a:off x="2499977" y="82296"/>
            <a:ext cx="9029701" cy="569143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THE FLOWCHART, IN DETAIL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48640" y="5989320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201C1A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Zero-Latency Invariant: everything below the dashed line runs on a copy of the traffic. Nothing here can ever slow the original packet.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LAYER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32</a:t>
            </a:r>
            <a:endParaRPr lang="en-US" sz="900" dirty="0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578C2706-1604-08E0-998C-F97EAF89ADE9}"/>
              </a:ext>
            </a:extLst>
          </p:cNvPr>
          <p:cNvSpPr/>
          <p:nvPr/>
        </p:nvSpPr>
        <p:spPr>
          <a:xfrm>
            <a:off x="1027924" y="288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2" name="Shape 5">
            <a:extLst>
              <a:ext uri="{FF2B5EF4-FFF2-40B4-BE49-F238E27FC236}">
                <a16:creationId xmlns:a16="http://schemas.microsoft.com/office/drawing/2014/main" id="{234D06A1-D16A-98F6-B917-4087B26FB288}"/>
              </a:ext>
            </a:extLst>
          </p:cNvPr>
          <p:cNvSpPr/>
          <p:nvPr/>
        </p:nvSpPr>
        <p:spPr>
          <a:xfrm>
            <a:off x="424570" y="898139"/>
            <a:ext cx="329184" cy="329184"/>
          </a:xfrm>
          <a:prstGeom prst="ellipse">
            <a:avLst/>
          </a:prstGeom>
          <a:solidFill>
            <a:srgbClr val="0E1B2A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25E8B329-4957-2093-E466-C0C81A528C95}"/>
              </a:ext>
            </a:extLst>
          </p:cNvPr>
          <p:cNvSpPr/>
          <p:nvPr/>
        </p:nvSpPr>
        <p:spPr>
          <a:xfrm>
            <a:off x="424570" y="8935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8DD4F132-C56D-58B8-9211-243923031C61}"/>
              </a:ext>
            </a:extLst>
          </p:cNvPr>
          <p:cNvSpPr/>
          <p:nvPr/>
        </p:nvSpPr>
        <p:spPr>
          <a:xfrm>
            <a:off x="900843" y="1026708"/>
            <a:ext cx="22838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see IP addresses and ports, not how a connection behaves over time. A large download and a data exfiltration look identical.</a:t>
            </a:r>
            <a:endParaRPr lang="en-US" sz="1000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14677EF5-40DC-2B66-6348-CCE9B09AD483}"/>
              </a:ext>
            </a:extLst>
          </p:cNvPr>
          <p:cNvSpPr/>
          <p:nvPr/>
        </p:nvSpPr>
        <p:spPr>
          <a:xfrm>
            <a:off x="841385" y="1896183"/>
            <a:ext cx="17001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is based on a known-bad address or signature. Against a genuine zero-day, it offers nothing.</a:t>
            </a:r>
            <a:endParaRPr lang="en-US" sz="1000" dirty="0"/>
          </a:p>
        </p:txBody>
      </p:sp>
      <p:sp>
        <p:nvSpPr>
          <p:cNvPr id="62" name="Shape 15">
            <a:extLst>
              <a:ext uri="{FF2B5EF4-FFF2-40B4-BE49-F238E27FC236}">
                <a16:creationId xmlns:a16="http://schemas.microsoft.com/office/drawing/2014/main" id="{DD492D74-CD05-539E-2736-B37E66CB8992}"/>
              </a:ext>
            </a:extLst>
          </p:cNvPr>
          <p:cNvSpPr/>
          <p:nvPr/>
        </p:nvSpPr>
        <p:spPr>
          <a:xfrm>
            <a:off x="410354" y="3084841"/>
            <a:ext cx="329184" cy="329184"/>
          </a:xfrm>
          <a:prstGeom prst="ellipse">
            <a:avLst/>
          </a:prstGeom>
          <a:solidFill>
            <a:srgbClr val="0E1B2A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7FD6B02B-8EBE-CFEB-962D-2C9B228647EF}"/>
              </a:ext>
            </a:extLst>
          </p:cNvPr>
          <p:cNvSpPr/>
          <p:nvPr/>
        </p:nvSpPr>
        <p:spPr>
          <a:xfrm>
            <a:off x="410354" y="30894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83D0C349-0046-7638-0C9D-739609C90A8E}"/>
              </a:ext>
            </a:extLst>
          </p:cNvPr>
          <p:cNvSpPr/>
          <p:nvPr/>
        </p:nvSpPr>
        <p:spPr>
          <a:xfrm>
            <a:off x="786460" y="3046115"/>
            <a:ext cx="2756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90% of traffic is TLS. Inspecting payloads needs decryption: added latency, heavy CPU, and GDPR risk.</a:t>
            </a:r>
            <a:endParaRPr lang="en-US" sz="1000" dirty="0"/>
          </a:p>
        </p:txBody>
      </p:sp>
      <p:sp>
        <p:nvSpPr>
          <p:cNvPr id="68" name="Shape 20">
            <a:extLst>
              <a:ext uri="{FF2B5EF4-FFF2-40B4-BE49-F238E27FC236}">
                <a16:creationId xmlns:a16="http://schemas.microsoft.com/office/drawing/2014/main" id="{3FC6B239-BC52-F8F2-1FA3-858BD72E5CD7}"/>
              </a:ext>
            </a:extLst>
          </p:cNvPr>
          <p:cNvSpPr/>
          <p:nvPr/>
        </p:nvSpPr>
        <p:spPr>
          <a:xfrm>
            <a:off x="411058" y="4051468"/>
            <a:ext cx="329184" cy="329184"/>
          </a:xfrm>
          <a:prstGeom prst="ellipse">
            <a:avLst/>
          </a:prstGeom>
          <a:solidFill>
            <a:srgbClr val="0E1B2A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70" name="Text 21">
            <a:extLst>
              <a:ext uri="{FF2B5EF4-FFF2-40B4-BE49-F238E27FC236}">
                <a16:creationId xmlns:a16="http://schemas.microsoft.com/office/drawing/2014/main" id="{AA5502F3-E8DC-3F23-FB72-942F3577992B}"/>
              </a:ext>
            </a:extLst>
          </p:cNvPr>
          <p:cNvSpPr/>
          <p:nvPr/>
        </p:nvSpPr>
        <p:spPr>
          <a:xfrm>
            <a:off x="411058" y="404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2" name="Text 23">
            <a:extLst>
              <a:ext uri="{FF2B5EF4-FFF2-40B4-BE49-F238E27FC236}">
                <a16:creationId xmlns:a16="http://schemas.microsoft.com/office/drawing/2014/main" id="{1F201A74-A406-5B0E-569B-C6B03AF15CFC}"/>
              </a:ext>
            </a:extLst>
          </p:cNvPr>
          <p:cNvSpPr/>
          <p:nvPr/>
        </p:nvSpPr>
        <p:spPr>
          <a:xfrm>
            <a:off x="789476" y="4021666"/>
            <a:ext cx="27308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processor is tuned for one job, forwarding. Heavy analysis on the same box degrades routing for everyone.</a:t>
            </a:r>
            <a:endParaRPr lang="en-US" sz="1000" dirty="0"/>
          </a:p>
        </p:txBody>
      </p:sp>
      <p:sp>
        <p:nvSpPr>
          <p:cNvPr id="73" name="Shape 10">
            <a:extLst>
              <a:ext uri="{FF2B5EF4-FFF2-40B4-BE49-F238E27FC236}">
                <a16:creationId xmlns:a16="http://schemas.microsoft.com/office/drawing/2014/main" id="{C970F7A7-A986-6F53-20E1-F6D8638891FA}"/>
              </a:ext>
            </a:extLst>
          </p:cNvPr>
          <p:cNvSpPr/>
          <p:nvPr/>
        </p:nvSpPr>
        <p:spPr>
          <a:xfrm>
            <a:off x="424570" y="1864779"/>
            <a:ext cx="329184" cy="329184"/>
          </a:xfrm>
          <a:prstGeom prst="ellipse">
            <a:avLst/>
          </a:prstGeom>
          <a:solidFill>
            <a:srgbClr val="0E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11">
            <a:extLst>
              <a:ext uri="{FF2B5EF4-FFF2-40B4-BE49-F238E27FC236}">
                <a16:creationId xmlns:a16="http://schemas.microsoft.com/office/drawing/2014/main" id="{E459FE39-7F95-1748-1227-22C9A525B517}"/>
              </a:ext>
            </a:extLst>
          </p:cNvPr>
          <p:cNvSpPr/>
          <p:nvPr/>
        </p:nvSpPr>
        <p:spPr>
          <a:xfrm>
            <a:off x="406455" y="18596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566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</a:rPr>
              <a:t>BACKGROUND: LET'S UNDERSTAND THE PACKET 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LAYER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32</a:t>
            </a:r>
            <a:endParaRPr lang="en-US" sz="900" dirty="0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5BF47C97-A918-E0E9-492F-DA67CD0FA4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8" t="10497" r="1835" b="35745"/>
          <a:stretch>
            <a:fillRect/>
          </a:stretch>
        </p:blipFill>
        <p:spPr>
          <a:xfrm>
            <a:off x="502920" y="1322961"/>
            <a:ext cx="11413728" cy="42120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/home/claude/admo/assets/fig_cascade.png">
            <a:extLst>
              <a:ext uri="{FF2B5EF4-FFF2-40B4-BE49-F238E27FC236}">
                <a16:creationId xmlns:a16="http://schemas.microsoft.com/office/drawing/2014/main" id="{B1B5D174-7676-3DB3-2051-297B604D3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05" y="900813"/>
            <a:ext cx="9417840" cy="455686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OF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Out-of-Band Flow Telemetry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mirrored packet stream into a 12-dimensional feature vector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976942" y="5541264"/>
            <a:ext cx="4862710" cy="822960"/>
          </a:xfrm>
          <a:prstGeom prst="roundRect">
            <a:avLst>
              <a:gd name="adj" fmla="val 4615"/>
            </a:avLst>
          </a:prstGeom>
          <a:solidFill>
            <a:srgbClr val="201C1A"/>
          </a:solidFill>
          <a:ln/>
        </p:spPr>
      </p:sp>
      <p:sp>
        <p:nvSpPr>
          <p:cNvPr id="25" name="Text 23"/>
          <p:cNvSpPr/>
          <p:nvPr/>
        </p:nvSpPr>
        <p:spPr>
          <a:xfrm>
            <a:off x="1101162" y="56090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E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in on em0 all copy to em1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39052" y="5833225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A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em0: WAN interface · em1: dedicated analysis interface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04384" y="2743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3F0EC"/>
          </a:solidFill>
          <a:ln/>
        </p:spPr>
      </p:sp>
      <p:sp>
        <p:nvSpPr>
          <p:cNvPr id="28" name="Text 26"/>
          <p:cNvSpPr/>
          <p:nvPr/>
        </p:nvSpPr>
        <p:spPr>
          <a:xfrm>
            <a:off x="6832984" y="457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finalise on a TCP FIN/RST, a 120-second idle timeout, or a max-duration cap  whichever comes first. Each finalised flow's Golden 12 values land in the cache with a timestamp, ready for Tier 1 to query.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96354" y="5384910"/>
            <a:ext cx="5187926" cy="9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satisfies P1:  </a:t>
            </a:r>
            <a:r>
              <a:rPr lang="en-US" sz="130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copy-to directive executes after pfSense's forwarding decision is already made  the original packet is gone before ADMO ever sees a copy of it.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LAYER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32</a:t>
            </a:r>
            <a:endParaRPr lang="en-US" sz="9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36901F-08B7-CF91-DEB1-73412836B376}"/>
              </a:ext>
            </a:extLst>
          </p:cNvPr>
          <p:cNvSpPr/>
          <p:nvPr/>
        </p:nvSpPr>
        <p:spPr>
          <a:xfrm>
            <a:off x="6677026" y="2688431"/>
            <a:ext cx="552450" cy="138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89926-0B7C-94A7-41D6-3F49F167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F43418-5609-DFBE-4891-3140C4BA997D}"/>
              </a:ext>
            </a:extLst>
          </p:cNvPr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OF 5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F4F487-A0F1-CD69-63A2-0D7261E84687}"/>
              </a:ext>
            </a:extLst>
          </p:cNvPr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12: Encryption-Agnostic, Hardware-Extractable</a:t>
            </a:r>
            <a:endParaRPr lang="en-US" sz="25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936E1F2-5D29-BB9C-CE8E-1BDFF55E5FDD}"/>
              </a:ext>
            </a:extLst>
          </p:cNvPr>
          <p:cNvSpPr/>
          <p:nvPr/>
        </p:nvSpPr>
        <p:spPr>
          <a:xfrm>
            <a:off x="487682" y="565556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payload access.  </a:t>
            </a:r>
            <a:r>
              <a:rPr lang="en-US" sz="130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12 is computable from headers, counts, and timestamps alone  which is what makes ADMO GDPR-clean and TLS-proof by construction, and keeps it ready for future line-rate SmartNIC extraction.</a:t>
            </a:r>
            <a:endParaRPr lang="en-US" sz="13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3764D34-0233-5BE8-32A6-00A58194AC58}"/>
              </a:ext>
            </a:extLst>
          </p:cNvPr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LAYER</a:t>
            </a:r>
            <a:endParaRPr lang="en-US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6EBF594-1017-3471-BC1C-1D2B8AE26D90}"/>
              </a:ext>
            </a:extLst>
          </p:cNvPr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32</a:t>
            </a:r>
            <a:endParaRPr lang="en-US" sz="9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E29F1935-973C-4BF2-F3FD-0F8F84F3DFA7}"/>
              </a:ext>
            </a:extLst>
          </p:cNvPr>
          <p:cNvSpPr/>
          <p:nvPr/>
        </p:nvSpPr>
        <p:spPr>
          <a:xfrm>
            <a:off x="548640" y="1618488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twelve?  </a:t>
            </a:r>
            <a:r>
              <a:rPr lang="en-US" sz="14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dimensionality and inference-cost trade-off, the exact language a data scientist uses for feature selection. Fewer features means faster inference, which the cascade's latency budget needs directly.</a:t>
            </a:r>
            <a:endParaRPr lang="en-US" sz="14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2F12B408-83E7-6171-C859-7B55D4778058}"/>
              </a:ext>
            </a:extLst>
          </p:cNvPr>
          <p:cNvSpPr/>
          <p:nvPr/>
        </p:nvSpPr>
        <p:spPr>
          <a:xfrm>
            <a:off x="548640" y="2689716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header-only payoff</a:t>
            </a:r>
            <a:r>
              <a:rPr lang="en-US" sz="1400" b="1" dirty="0">
                <a:solidFill>
                  <a:srgbClr val="0A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r>
              <a:rPr lang="en-US" sz="14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never read the payload, the model works on encrypted traffic and stays GDPR-clean by construction.</a:t>
            </a:r>
            <a:endParaRPr lang="en-US" sz="1400" dirty="0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18DB0057-413C-DF2F-D45E-46567EEFB03E}"/>
              </a:ext>
            </a:extLst>
          </p:cNvPr>
          <p:cNvSpPr/>
          <p:nvPr/>
        </p:nvSpPr>
        <p:spPr>
          <a:xfrm>
            <a:off x="502920" y="3547872"/>
            <a:ext cx="4709160" cy="13716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69A30174-EC74-294A-1349-97CD7CDBE540}"/>
              </a:ext>
            </a:extLst>
          </p:cNvPr>
          <p:cNvSpPr/>
          <p:nvPr/>
        </p:nvSpPr>
        <p:spPr>
          <a:xfrm>
            <a:off x="704088" y="36667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method</a:t>
            </a:r>
            <a:endParaRPr lang="en-US" sz="125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F4460F9A-9480-D694-5809-7DFBC2FDA7A1}"/>
              </a:ext>
            </a:extLst>
          </p:cNvPr>
          <p:cNvSpPr/>
          <p:nvPr/>
        </p:nvSpPr>
        <p:spPr>
          <a:xfrm>
            <a:off x="704088" y="3977640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Random-Forest importance (top 30)  →  ANOVA significance (p &lt; 0.001)  →  header-extractable filter  →  the 12 that satisfy all three.</a:t>
            </a:r>
            <a:endParaRPr lang="en-US" sz="1250" dirty="0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BD8E0920-8B97-DBC6-3324-634B4D1B079E}"/>
              </a:ext>
            </a:extLst>
          </p:cNvPr>
          <p:cNvSpPr/>
          <p:nvPr/>
        </p:nvSpPr>
        <p:spPr>
          <a:xfrm>
            <a:off x="5526026" y="1345893"/>
            <a:ext cx="2907792" cy="2871216"/>
          </a:xfrm>
          <a:prstGeom prst="roundRect">
            <a:avLst>
              <a:gd name="adj" fmla="val 2548"/>
            </a:avLst>
          </a:prstGeom>
          <a:solidFill>
            <a:srgbClr val="FFFFFF"/>
          </a:solidFill>
          <a:ln w="13970">
            <a:solidFill>
              <a:srgbClr val="E3E9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C3244EB-EE47-262F-7758-F81AB8885CA7}"/>
              </a:ext>
            </a:extLst>
          </p:cNvPr>
          <p:cNvSpPr/>
          <p:nvPr/>
        </p:nvSpPr>
        <p:spPr>
          <a:xfrm>
            <a:off x="5690618" y="1464765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HEADER</a:t>
            </a:r>
            <a:endParaRPr lang="en-US" sz="105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CC9BFA8E-B245-670A-E497-4135408ED35D}"/>
              </a:ext>
            </a:extLst>
          </p:cNvPr>
          <p:cNvSpPr/>
          <p:nvPr/>
        </p:nvSpPr>
        <p:spPr>
          <a:xfrm>
            <a:off x="5690618" y="1766517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33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 Header Length</a:t>
            </a:r>
            <a:endParaRPr lang="en-US" sz="110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290BFD6C-6ACC-2F49-94BA-17FE1D936C56}"/>
              </a:ext>
            </a:extLst>
          </p:cNvPr>
          <p:cNvSpPr/>
          <p:nvPr/>
        </p:nvSpPr>
        <p:spPr>
          <a:xfrm>
            <a:off x="5690618" y="1985973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tunnelled / exploit</a:t>
            </a:r>
            <a:endParaRPr lang="en-US" sz="90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B51F86C8-B35A-89C5-F15E-9C89A6FD96BE}"/>
              </a:ext>
            </a:extLst>
          </p:cNvPr>
          <p:cNvSpPr/>
          <p:nvPr/>
        </p:nvSpPr>
        <p:spPr>
          <a:xfrm>
            <a:off x="5690618" y="2242005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33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Bwd Header Length</a:t>
            </a:r>
            <a:endParaRPr lang="en-US" sz="1100" dirty="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74FB51BC-A6BB-5423-AACC-F5B4AD521A6E}"/>
              </a:ext>
            </a:extLst>
          </p:cNvPr>
          <p:cNvSpPr/>
          <p:nvPr/>
        </p:nvSpPr>
        <p:spPr>
          <a:xfrm>
            <a:off x="5690618" y="2461461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asymmetry</a:t>
            </a:r>
            <a:endParaRPr lang="en-US" sz="900" dirty="0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3E6AF884-719E-58D7-BE5E-FA1B9A4D84FB}"/>
              </a:ext>
            </a:extLst>
          </p:cNvPr>
          <p:cNvSpPr/>
          <p:nvPr/>
        </p:nvSpPr>
        <p:spPr>
          <a:xfrm>
            <a:off x="5690618" y="2717493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33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 PSH Flags</a:t>
            </a:r>
            <a:endParaRPr lang="en-US" sz="1100" dirty="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2527F93A-2A37-B155-1CC8-2C7204905606}"/>
              </a:ext>
            </a:extLst>
          </p:cNvPr>
          <p:cNvSpPr/>
          <p:nvPr/>
        </p:nvSpPr>
        <p:spPr>
          <a:xfrm>
            <a:off x="5690618" y="2936949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SSH/FTP brute force</a:t>
            </a:r>
            <a:endParaRPr lang="en-US" sz="900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9546B82F-3B9B-B636-057F-352587101862}"/>
              </a:ext>
            </a:extLst>
          </p:cNvPr>
          <p:cNvSpPr/>
          <p:nvPr/>
        </p:nvSpPr>
        <p:spPr>
          <a:xfrm>
            <a:off x="5690618" y="3192981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33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 Flag Count</a:t>
            </a:r>
            <a:endParaRPr lang="en-US" sz="1100" dirty="0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912E4E47-D6DF-FCD8-9A02-722D2D79648F}"/>
              </a:ext>
            </a:extLst>
          </p:cNvPr>
          <p:cNvSpPr/>
          <p:nvPr/>
        </p:nvSpPr>
        <p:spPr>
          <a:xfrm>
            <a:off x="5690618" y="3412437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ACK-flood DDoS</a:t>
            </a:r>
            <a:endParaRPr lang="en-US" sz="900" dirty="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A7488621-2103-D330-650C-2BF9AAF0D912}"/>
              </a:ext>
            </a:extLst>
          </p:cNvPr>
          <p:cNvSpPr/>
          <p:nvPr/>
        </p:nvSpPr>
        <p:spPr>
          <a:xfrm>
            <a:off x="5690618" y="3668469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33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Win Bytes Fwd</a:t>
            </a:r>
            <a:endParaRPr lang="en-US" sz="1100" dirty="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7A933F74-1F79-D934-D56B-B0F24D55D246}"/>
              </a:ext>
            </a:extLst>
          </p:cNvPr>
          <p:cNvSpPr/>
          <p:nvPr/>
        </p:nvSpPr>
        <p:spPr>
          <a:xfrm>
            <a:off x="5690618" y="3887925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Slowloris / DoS</a:t>
            </a:r>
            <a:endParaRPr lang="en-US" sz="900" dirty="0"/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0B84361E-7361-B91E-559A-B44A006E2DEB}"/>
              </a:ext>
            </a:extLst>
          </p:cNvPr>
          <p:cNvSpPr/>
          <p:nvPr/>
        </p:nvSpPr>
        <p:spPr>
          <a:xfrm>
            <a:off x="8607554" y="1345893"/>
            <a:ext cx="2907792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3970">
            <a:solidFill>
              <a:srgbClr val="E3E9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5BAFC258-77F7-C4F9-12E6-01DB05780A74}"/>
              </a:ext>
            </a:extLst>
          </p:cNvPr>
          <p:cNvSpPr/>
          <p:nvPr/>
        </p:nvSpPr>
        <p:spPr>
          <a:xfrm>
            <a:off x="8772146" y="1464765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A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METADATA</a:t>
            </a:r>
            <a:endParaRPr lang="en-US" sz="1050" dirty="0"/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4EAC19EE-92BC-0204-0DCF-4FF4FD8797EB}"/>
              </a:ext>
            </a:extLst>
          </p:cNvPr>
          <p:cNvSpPr/>
          <p:nvPr/>
        </p:nvSpPr>
        <p:spPr>
          <a:xfrm>
            <a:off x="8772146" y="1766517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33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Duration</a:t>
            </a:r>
            <a:endParaRPr lang="en-US" sz="1100" dirty="0"/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AEBE4888-FC9E-5F6C-D1C0-517C9D507E03}"/>
              </a:ext>
            </a:extLst>
          </p:cNvPr>
          <p:cNvSpPr/>
          <p:nvPr/>
        </p:nvSpPr>
        <p:spPr>
          <a:xfrm>
            <a:off x="8772146" y="1985973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slow-and-low DoS</a:t>
            </a:r>
            <a:endParaRPr lang="en-US" sz="900" dirty="0"/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647CB526-0821-C0A3-43F8-A44DA96BDE2C}"/>
              </a:ext>
            </a:extLst>
          </p:cNvPr>
          <p:cNvSpPr/>
          <p:nvPr/>
        </p:nvSpPr>
        <p:spPr>
          <a:xfrm>
            <a:off x="8772146" y="2242005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33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Packets/s</a:t>
            </a:r>
            <a:endParaRPr lang="en-US" sz="1100" dirty="0"/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D24914DB-6056-D9A7-DCE6-2BA8FF813198}"/>
              </a:ext>
            </a:extLst>
          </p:cNvPr>
          <p:cNvSpPr/>
          <p:nvPr/>
        </p:nvSpPr>
        <p:spPr>
          <a:xfrm>
            <a:off x="8772146" y="2461461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DDoS</a:t>
            </a:r>
            <a:endParaRPr lang="en-US" sz="900" dirty="0"/>
          </a:p>
        </p:txBody>
      </p:sp>
      <p:sp>
        <p:nvSpPr>
          <p:cNvPr id="76" name="Text 27">
            <a:extLst>
              <a:ext uri="{FF2B5EF4-FFF2-40B4-BE49-F238E27FC236}">
                <a16:creationId xmlns:a16="http://schemas.microsoft.com/office/drawing/2014/main" id="{39F1B9F7-0213-BFF5-CA80-A882784F169C}"/>
              </a:ext>
            </a:extLst>
          </p:cNvPr>
          <p:cNvSpPr/>
          <p:nvPr/>
        </p:nvSpPr>
        <p:spPr>
          <a:xfrm>
            <a:off x="8772146" y="2717493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33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Bytes/s</a:t>
            </a:r>
            <a:endParaRPr lang="en-US" sz="1100" dirty="0"/>
          </a:p>
        </p:txBody>
      </p:sp>
      <p:sp>
        <p:nvSpPr>
          <p:cNvPr id="78" name="Text 28">
            <a:extLst>
              <a:ext uri="{FF2B5EF4-FFF2-40B4-BE49-F238E27FC236}">
                <a16:creationId xmlns:a16="http://schemas.microsoft.com/office/drawing/2014/main" id="{1E5C1BC9-1DA4-D342-6D9E-E6DAEB1C88C7}"/>
              </a:ext>
            </a:extLst>
          </p:cNvPr>
          <p:cNvSpPr/>
          <p:nvPr/>
        </p:nvSpPr>
        <p:spPr>
          <a:xfrm>
            <a:off x="8772146" y="2936949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 / flood</a:t>
            </a:r>
            <a:endParaRPr lang="en-US" sz="900" dirty="0"/>
          </a:p>
        </p:txBody>
      </p:sp>
      <p:sp>
        <p:nvSpPr>
          <p:cNvPr id="80" name="Text 29">
            <a:extLst>
              <a:ext uri="{FF2B5EF4-FFF2-40B4-BE49-F238E27FC236}">
                <a16:creationId xmlns:a16="http://schemas.microsoft.com/office/drawing/2014/main" id="{AA88BE33-0E64-F026-C5EE-216B96048B8D}"/>
              </a:ext>
            </a:extLst>
          </p:cNvPr>
          <p:cNvSpPr/>
          <p:nvPr/>
        </p:nvSpPr>
        <p:spPr>
          <a:xfrm>
            <a:off x="8772146" y="3192981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33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 Pkt Len Max</a:t>
            </a:r>
            <a:endParaRPr lang="en-US" sz="1100" dirty="0"/>
          </a:p>
        </p:txBody>
      </p:sp>
      <p:sp>
        <p:nvSpPr>
          <p:cNvPr id="82" name="Text 30">
            <a:extLst>
              <a:ext uri="{FF2B5EF4-FFF2-40B4-BE49-F238E27FC236}">
                <a16:creationId xmlns:a16="http://schemas.microsoft.com/office/drawing/2014/main" id="{724D3BF2-CE56-955F-E1A4-E0CB0BEF9306}"/>
              </a:ext>
            </a:extLst>
          </p:cNvPr>
          <p:cNvSpPr/>
          <p:nvPr/>
        </p:nvSpPr>
        <p:spPr>
          <a:xfrm>
            <a:off x="8772146" y="3412437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/ XSS payloads</a:t>
            </a:r>
            <a:endParaRPr lang="en-US" sz="900" dirty="0"/>
          </a:p>
        </p:txBody>
      </p:sp>
      <p:sp>
        <p:nvSpPr>
          <p:cNvPr id="84" name="Shape 31">
            <a:extLst>
              <a:ext uri="{FF2B5EF4-FFF2-40B4-BE49-F238E27FC236}">
                <a16:creationId xmlns:a16="http://schemas.microsoft.com/office/drawing/2014/main" id="{541EDAED-E958-E13F-C7D9-4A3E5AB2C3BA}"/>
              </a:ext>
            </a:extLst>
          </p:cNvPr>
          <p:cNvSpPr/>
          <p:nvPr/>
        </p:nvSpPr>
        <p:spPr>
          <a:xfrm>
            <a:off x="8607554" y="3833061"/>
            <a:ext cx="290779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E3E9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32">
            <a:extLst>
              <a:ext uri="{FF2B5EF4-FFF2-40B4-BE49-F238E27FC236}">
                <a16:creationId xmlns:a16="http://schemas.microsoft.com/office/drawing/2014/main" id="{53B75059-676F-F553-4016-FFC4BDC40D39}"/>
              </a:ext>
            </a:extLst>
          </p:cNvPr>
          <p:cNvSpPr/>
          <p:nvPr/>
        </p:nvSpPr>
        <p:spPr>
          <a:xfrm>
            <a:off x="8772146" y="3951933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C7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050" dirty="0"/>
          </a:p>
        </p:txBody>
      </p:sp>
      <p:sp>
        <p:nvSpPr>
          <p:cNvPr id="88" name="Text 33">
            <a:extLst>
              <a:ext uri="{FF2B5EF4-FFF2-40B4-BE49-F238E27FC236}">
                <a16:creationId xmlns:a16="http://schemas.microsoft.com/office/drawing/2014/main" id="{3235629F-2253-137C-6ED4-4DF8D0C5D487}"/>
              </a:ext>
            </a:extLst>
          </p:cNvPr>
          <p:cNvSpPr/>
          <p:nvPr/>
        </p:nvSpPr>
        <p:spPr>
          <a:xfrm>
            <a:off x="8772146" y="4253685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33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IAT Mean</a:t>
            </a:r>
            <a:endParaRPr lang="en-US" sz="1100" dirty="0"/>
          </a:p>
        </p:txBody>
      </p:sp>
      <p:sp>
        <p:nvSpPr>
          <p:cNvPr id="90" name="Text 34">
            <a:extLst>
              <a:ext uri="{FF2B5EF4-FFF2-40B4-BE49-F238E27FC236}">
                <a16:creationId xmlns:a16="http://schemas.microsoft.com/office/drawing/2014/main" id="{E71BB4FE-932D-53F1-63A2-5CC6EA7FEE95}"/>
              </a:ext>
            </a:extLst>
          </p:cNvPr>
          <p:cNvSpPr/>
          <p:nvPr/>
        </p:nvSpPr>
        <p:spPr>
          <a:xfrm>
            <a:off x="8772146" y="4473141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C2 heartbeat</a:t>
            </a:r>
            <a:endParaRPr lang="en-US" sz="900" dirty="0"/>
          </a:p>
        </p:txBody>
      </p:sp>
      <p:sp>
        <p:nvSpPr>
          <p:cNvPr id="92" name="Text 35">
            <a:extLst>
              <a:ext uri="{FF2B5EF4-FFF2-40B4-BE49-F238E27FC236}">
                <a16:creationId xmlns:a16="http://schemas.microsoft.com/office/drawing/2014/main" id="{064E01FF-284F-D76C-6379-6E096A62A38C}"/>
              </a:ext>
            </a:extLst>
          </p:cNvPr>
          <p:cNvSpPr/>
          <p:nvPr/>
        </p:nvSpPr>
        <p:spPr>
          <a:xfrm>
            <a:off x="8772146" y="4729173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33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 IAT Max</a:t>
            </a:r>
            <a:endParaRPr lang="en-US" sz="1100" dirty="0"/>
          </a:p>
        </p:txBody>
      </p:sp>
      <p:sp>
        <p:nvSpPr>
          <p:cNvPr id="94" name="Text 36">
            <a:extLst>
              <a:ext uri="{FF2B5EF4-FFF2-40B4-BE49-F238E27FC236}">
                <a16:creationId xmlns:a16="http://schemas.microsoft.com/office/drawing/2014/main" id="{85E987D4-0B6E-23E4-8709-440F4395FA55}"/>
              </a:ext>
            </a:extLst>
          </p:cNvPr>
          <p:cNvSpPr/>
          <p:nvPr/>
        </p:nvSpPr>
        <p:spPr>
          <a:xfrm>
            <a:off x="8772146" y="4948629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low-and-slow timing</a:t>
            </a:r>
            <a:endParaRPr lang="en-US" sz="900" dirty="0"/>
          </a:p>
        </p:txBody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1DE7EA13-9792-8122-D98A-40F1C1755CB3}"/>
              </a:ext>
            </a:extLst>
          </p:cNvPr>
          <p:cNvSpPr/>
          <p:nvPr/>
        </p:nvSpPr>
        <p:spPr>
          <a:xfrm>
            <a:off x="8772146" y="5204661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33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Bwd IAT Min</a:t>
            </a:r>
            <a:endParaRPr lang="en-US" sz="1100" dirty="0"/>
          </a:p>
        </p:txBody>
      </p:sp>
      <p:sp>
        <p:nvSpPr>
          <p:cNvPr id="98" name="Text 38">
            <a:extLst>
              <a:ext uri="{FF2B5EF4-FFF2-40B4-BE49-F238E27FC236}">
                <a16:creationId xmlns:a16="http://schemas.microsoft.com/office/drawing/2014/main" id="{0D0110A1-D6EF-4E7B-6DBB-FFA81655256F}"/>
              </a:ext>
            </a:extLst>
          </p:cNvPr>
          <p:cNvSpPr/>
          <p:nvPr/>
        </p:nvSpPr>
        <p:spPr>
          <a:xfrm>
            <a:off x="8772146" y="5424117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5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reflection</a:t>
            </a:r>
            <a:endParaRPr lang="en-US" sz="900" dirty="0"/>
          </a:p>
        </p:txBody>
      </p:sp>
      <p:sp>
        <p:nvSpPr>
          <p:cNvPr id="100" name="Shape 39">
            <a:extLst>
              <a:ext uri="{FF2B5EF4-FFF2-40B4-BE49-F238E27FC236}">
                <a16:creationId xmlns:a16="http://schemas.microsoft.com/office/drawing/2014/main" id="{B609B732-EF7A-1A13-1552-BC26DC337F91}"/>
              </a:ext>
            </a:extLst>
          </p:cNvPr>
          <p:cNvSpPr/>
          <p:nvPr/>
        </p:nvSpPr>
        <p:spPr>
          <a:xfrm>
            <a:off x="5526026" y="4317693"/>
            <a:ext cx="2907792" cy="1207008"/>
          </a:xfrm>
          <a:prstGeom prst="roundRect">
            <a:avLst>
              <a:gd name="adj" fmla="val 7576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40">
            <a:extLst>
              <a:ext uri="{FF2B5EF4-FFF2-40B4-BE49-F238E27FC236}">
                <a16:creationId xmlns:a16="http://schemas.microsoft.com/office/drawing/2014/main" id="{FD457646-6A52-6EA4-9D59-C970F6B82F5A}"/>
              </a:ext>
            </a:extLst>
          </p:cNvPr>
          <p:cNvSpPr/>
          <p:nvPr/>
        </p:nvSpPr>
        <p:spPr>
          <a:xfrm>
            <a:off x="5708906" y="4436565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 → 12</a:t>
            </a:r>
            <a:endParaRPr lang="en-US" sz="3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4" name="Text 41">
            <a:extLst>
              <a:ext uri="{FF2B5EF4-FFF2-40B4-BE49-F238E27FC236}">
                <a16:creationId xmlns:a16="http://schemas.microsoft.com/office/drawing/2014/main" id="{4C0C6EEA-E97D-FDCE-BDA5-B76491D1A814}"/>
              </a:ext>
            </a:extLst>
          </p:cNvPr>
          <p:cNvSpPr/>
          <p:nvPr/>
        </p:nvSpPr>
        <p:spPr>
          <a:xfrm>
            <a:off x="5708906" y="5021781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without losing the signal across all six classes.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139743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D286F-85E1-CEE0-5ABB-46EB1F75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9CEAF1-416D-84DC-E2AB-B3A53A601F18}"/>
              </a:ext>
            </a:extLst>
          </p:cNvPr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VALIDATION</a:t>
            </a:r>
            <a:endParaRPr lang="en-US" sz="12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E54C2D5-4660-EA83-C5F8-FC2DCC8EF0D4}"/>
              </a:ext>
            </a:extLst>
          </p:cNvPr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LAYER</a:t>
            </a:r>
            <a:endParaRPr lang="en-US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F5EB6E1-7518-B6CB-CEB5-CDEB04471E6D}"/>
              </a:ext>
            </a:extLst>
          </p:cNvPr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32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F8258F2-ED7E-D058-FA31-DDC915984E85}"/>
              </a:ext>
            </a:extLst>
          </p:cNvPr>
          <p:cNvSpPr/>
          <p:nvPr/>
        </p:nvSpPr>
        <p:spPr>
          <a:xfrm>
            <a:off x="640080" y="89611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44"/>
              </a:lnSpc>
              <a:buNone/>
            </a:pPr>
            <a:r>
              <a:rPr lang="en-US" sz="2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twelve, and what each one flags</a:t>
            </a:r>
            <a:endParaRPr lang="en-US" sz="240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814D1A4B-90B4-476C-A53C-3E9477032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665545"/>
              </p:ext>
            </p:extLst>
          </p:nvPr>
        </p:nvGraphicFramePr>
        <p:xfrm>
          <a:off x="566928" y="1600199"/>
          <a:ext cx="7772400" cy="4041473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7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Primary discriminated 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HW-extractable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1B2A"/>
                          </a:solidFill>
                        </a:rPr>
                        <a:t>Fwd Header Length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1750" marB="31750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BOTNET, INFILTRATION vs BENIGN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L4 header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1B2A"/>
                          </a:solidFill>
                        </a:rPr>
                        <a:t>ACK Flag Count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DoS/DDoS ACK-flood vs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TCP flag byte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1B2A"/>
                          </a:solidFill>
                        </a:rPr>
                        <a:t>Fwd PSH Flags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1750" marB="3175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BRUTE_FORCE (high PSH)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TCP flag byte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1B2A"/>
                          </a:solidFill>
                        </a:rPr>
                        <a:t>Init Win Bytes Fwd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Slowloris / DoS (window)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TCP header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1B2A"/>
                          </a:solidFill>
                        </a:rPr>
                        <a:t>Flow Duration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1750" marB="3175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slow DoS (long) vs DDoS (short)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from timestamps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1B2A"/>
                          </a:solidFill>
                        </a:rPr>
                        <a:t>Flow Packets/s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DoS/DDoS (very high rate)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timestamps + 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1B2A"/>
                          </a:solidFill>
                        </a:rPr>
                        <a:t>Flow Bytes/s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1750" marB="3175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DDoS floods; exfiltration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byte 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1B2A"/>
                          </a:solidFill>
                        </a:rPr>
                        <a:t>Fwd Pkt Len Max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WEB_ATTACK SQLi/XSS payloads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packet-length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1B2A"/>
                          </a:solidFill>
                        </a:rPr>
                        <a:t>Flow IAT Mean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1750" marB="3175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BOTNET C2 heartbeat regularity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from timestamps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1B2A"/>
                          </a:solidFill>
                        </a:rPr>
                        <a:t>Fwd IAT Max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low-and-slow BRUTE_FORCE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from timestamps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1B2A"/>
                          </a:solidFill>
                        </a:rPr>
                        <a:t>Bwd IAT Min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1750" marB="3175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high-speed DDoS reflection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3240"/>
                          </a:solidFill>
                        </a:rPr>
                        <a:t>from timestamps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1750" marB="317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Shape 5">
            <a:extLst>
              <a:ext uri="{FF2B5EF4-FFF2-40B4-BE49-F238E27FC236}">
                <a16:creationId xmlns:a16="http://schemas.microsoft.com/office/drawing/2014/main" id="{32EB9A12-45D0-C002-BC69-2C0CC6ECE847}"/>
              </a:ext>
            </a:extLst>
          </p:cNvPr>
          <p:cNvSpPr/>
          <p:nvPr/>
        </p:nvSpPr>
        <p:spPr>
          <a:xfrm>
            <a:off x="8595360" y="1600200"/>
            <a:ext cx="3017520" cy="3566160"/>
          </a:xfrm>
          <a:prstGeom prst="roundRect">
            <a:avLst>
              <a:gd name="adj" fmla="val 303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0BA0EAC-9EE5-B14A-DBB6-46779304A753}"/>
              </a:ext>
            </a:extLst>
          </p:cNvPr>
          <p:cNvSpPr/>
          <p:nvPr/>
        </p:nvSpPr>
        <p:spPr>
          <a:xfrm>
            <a:off x="8796528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properties, together</a:t>
            </a:r>
            <a:endParaRPr lang="en-US" sz="135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6BD470C-BB09-A5DC-D4B3-1201C9113DC4}"/>
              </a:ext>
            </a:extLst>
          </p:cNvPr>
          <p:cNvSpPr/>
          <p:nvPr/>
        </p:nvSpPr>
        <p:spPr>
          <a:xfrm>
            <a:off x="8805672" y="1905000"/>
            <a:ext cx="26334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3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twelve were selected on ANOVA significance (p &lt; 0.001) across the six classes; exact F-statistics come from the final run.
Each one is computable from headers, timestamps and counts alone, never the payload. </a:t>
            </a:r>
            <a:r>
              <a:rPr lang="en-US" sz="123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keeps the pipeline ready for line-rate hardware extraction later.</a:t>
            </a:r>
            <a:endParaRPr lang="en-US" sz="123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01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OF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Rare Attacks Learnable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algorithmic contribution: CTGAN + SMOTEENN for minority attack classes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6492240" cy="28163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samples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augmentation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/ DDoS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BRUTE_FORCE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WEB_ATTACK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C5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+50,000 CTGAN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C5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+80,000 CTGAN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INFILTRATION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63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40×  (+~78,000)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1965960"/>
            <a:ext cx="4160520" cy="3977640"/>
          </a:xfrm>
          <a:prstGeom prst="roundRect">
            <a:avLst>
              <a:gd name="adj" fmla="val 1609"/>
            </a:avLst>
          </a:prstGeom>
          <a:solidFill>
            <a:srgbClr val="F3F0EC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0" y="2148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CTGAN, NOT PLAIN SMOTE?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98080" y="251460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</a:t>
            </a: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interpolates linearly between real points. BOTNET traffic has </a:t>
            </a:r>
            <a:r>
              <a:rPr lang="en-US" sz="1100" i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shapes at once</a:t>
            </a: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regular C2 heartbeats and bursty exfiltration  and interpolation blurs them into samples resembling neither.
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</a:t>
            </a: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Gaussian-mixture model per feature (mode-specific normalisation), so it learns each mode separately before generating  then SMOTEENN cleans noisy boundary points.
</a:t>
            </a:r>
            <a:r>
              <a:rPr lang="en-US" sz="1100" b="1" dirty="0">
                <a:solidFill>
                  <a:srgbClr val="A6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</a:t>
            </a:r>
            <a:r>
              <a:rPr lang="en-US" sz="1100" dirty="0">
                <a:solidFill>
                  <a:srgbClr val="A6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Weissman &amp; Jayasumana's CTGAN-for-IoT approach [10] from benign traffic replication to attack-class synthesis  not documented elsewhere in the literature.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 (student laptop, one-time): ~45–90 min for INFILTRATION (2K real samples); ~4–8 hrs for BOTNET (120K samples). Generation after training: ~2–5 min per 100K synthetic samples.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LAYER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 OF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Interface, Two Engines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adapter pattern that resolves the interconnection challenge from Part 02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200400" cy="1417320"/>
          </a:xfrm>
          <a:prstGeom prst="roundRect">
            <a:avLst>
              <a:gd name="adj" fmla="val 4516"/>
            </a:avLst>
          </a:prstGeom>
          <a:solidFill>
            <a:srgbClr val="F3F0E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Snort 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Unified2 binary log  →  Barnyard2  →  Unix socket  /var/run/barnyard2.sock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0" y="2011680"/>
            <a:ext cx="3200400" cy="1417320"/>
          </a:xfrm>
          <a:prstGeom prst="roundRect">
            <a:avLst>
              <a:gd name="adj" fmla="val 4516"/>
            </a:avLst>
          </a:prstGeom>
          <a:solidFill>
            <a:srgbClr val="F3F0EC"/>
          </a:solidFill>
          <a:ln/>
        </p:spPr>
      </p:sp>
      <p:sp>
        <p:nvSpPr>
          <p:cNvPr id="9" name="Text 7"/>
          <p:cNvSpPr/>
          <p:nvPr/>
        </p:nvSpPr>
        <p:spPr>
          <a:xfrm>
            <a:off x="772668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Suricata 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26680" y="24871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JSON log  →  inotify file watch  →  /var/log/suricata/eve.json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94760" y="2606040"/>
            <a:ext cx="502920" cy="228600"/>
          </a:xfrm>
          <a:prstGeom prst="rightArrow">
            <a:avLst/>
          </a:prstGeom>
          <a:solidFill>
            <a:srgbClr val="5B554C"/>
          </a:solidFill>
          <a:ln/>
        </p:spPr>
      </p:sp>
      <p:sp>
        <p:nvSpPr>
          <p:cNvPr id="12" name="Shape 10"/>
          <p:cNvSpPr/>
          <p:nvPr/>
        </p:nvSpPr>
        <p:spPr>
          <a:xfrm flipH="1">
            <a:off x="6995160" y="2606040"/>
            <a:ext cx="502920" cy="228600"/>
          </a:xfrm>
          <a:prstGeom prst="rightArrow">
            <a:avLst/>
          </a:prstGeom>
          <a:solidFill>
            <a:srgbClr val="5B554C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1920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C97A32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AlertRecord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235915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30" dirty="0">
                <a:solidFill>
                  <a:srgbClr val="FFF3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 · 5-tuple · alert_class · confidence · flow_features · recommended_action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641848" y="3520440"/>
            <a:ext cx="0" cy="411480"/>
          </a:xfrm>
          <a:prstGeom prst="line">
            <a:avLst/>
          </a:prstGeom>
          <a:noFill/>
          <a:ln w="19050">
            <a:solidFill>
              <a:srgbClr val="5B554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91840" y="3977640"/>
            <a:ext cx="4709160" cy="685800"/>
          </a:xfrm>
          <a:prstGeom prst="roundRect">
            <a:avLst>
              <a:gd name="adj" fmla="val 8000"/>
            </a:avLst>
          </a:prstGeom>
          <a:solidFill>
            <a:srgbClr val="201C1A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39776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policy table  →  dispatch to Component 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interface, either engine  or both at once. </a:t>
            </a: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Snort adapter polls Barnyard2 every 5 seconds; the Suricata adapter reacts to EVE JSON in near real-time via inotify. Both normalise into the same AlertRecord, so swapping engines never touches the ML or dispatch code  directly resolving Gap 4.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LAYER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5 OF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Verdict Into a Firewall Rule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1965960"/>
          </a:xfrm>
          <a:prstGeom prst="roundRect">
            <a:avLst>
              <a:gd name="adj" fmla="val 3256"/>
            </a:avLst>
          </a:prstGeom>
          <a:solidFill>
            <a:srgbClr val="201C1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IP BLOCK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E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pfctl -t snort2c -T add 192.168.1.100
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E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pfctl -t snort2c -T show
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E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pfctl -t snort2c -T delete 192.168.1.100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in 1–2 </a:t>
            </a:r>
            <a:r>
              <a:rPr lang="en-US" sz="950" i="1" dirty="0" err="1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950" i="1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lightweight kernel ioctl call, not a computation. Existing legitimate connections are never interrupted.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20840" y="1554480"/>
            <a:ext cx="4709160" cy="1965960"/>
          </a:xfrm>
          <a:prstGeom prst="roundRect">
            <a:avLst>
              <a:gd name="adj" fmla="val 3256"/>
            </a:avLst>
          </a:prstGeom>
          <a:solidFill>
            <a:srgbClr val="F3F0EC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1691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SIGNATURE UPDATE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0" y="201168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rule written to disk, then a live reload signal  SIGHUP to Snort, suricatasc ruleset-reload-rules for Suricata. Asynchronous: in-progress flow inspection is never interrupted.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3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drop in quick on em0 from &lt;snort2c&gt; to any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pf rule, inserted at the top of the WAN rule table at boot  “quick” means it's evaluated first and short-circuits everything below it. This is the pfSense-native mechanism ADMO writes into; nothing about pfSense itself is modified.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0881360" cy="1234440"/>
          </a:xfrm>
          <a:prstGeom prst="roundRect">
            <a:avLst>
              <a:gd name="adj" fmla="val 5185"/>
            </a:avLst>
          </a:prstGeom>
          <a:solidFill>
            <a:srgbClr val="F7E7D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74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A6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step that literally makes pfSense “smarter.”  </a:t>
            </a:r>
            <a:r>
              <a:rPr lang="en-US" sz="12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monitoring thread also polls the block table every 60 seconds  table size, entry age, growth rate  and that log is the primary data source for the false-positive-rate analysis later in this talk.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LAYER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01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CASE STUDY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Interfacing pfSense and Suricata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test of everything in Parts 02–04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57800" cy="2148840"/>
          </a:xfrm>
          <a:prstGeom prst="roundRect">
            <a:avLst>
              <a:gd name="adj" fmla="val 2979"/>
            </a:avLst>
          </a:prstGeom>
          <a:solidFill>
            <a:srgbClr val="2B272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SURICATA, SPECIFICALLY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Multi-threaded, DPDK/AF_PACKET-capable, and its EVE JSON output is the richer, more modern schema  the harder and more realistic integration target versus Snort's simpler Unified2 path. Proving vendor-agnosticism on the harder case is the stronger claim.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201168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2B2723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1945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TOPOLOGY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251460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7.0, pfSense 2.7.x (FreeBSD 14), 3 virtual NICs: WAN (host-only, simulated Internet), LAN (NAT, simulated subscribers), analysis interface (dedicated mirror). Attack traffic: CICIDS PCAP subsets replayed via Scapy.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0881360" cy="1554480"/>
          </a:xfrm>
          <a:prstGeom prst="roundRect">
            <a:avLst>
              <a:gd name="adj" fmla="val 4118"/>
            </a:avLst>
          </a:prstGeom>
          <a:solidFill>
            <a:srgbClr val="2B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1772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IN FOUR STEPS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983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4983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pfSense traffic mirroring (“Copy traffic to” → analysis interface)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3520440" y="4983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4983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Suricata 7 in Legacy / passive mode  never Inline IPS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6217920" y="4983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4983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snort2c block table and rule exist (pfctl -sr | grep snort2c)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8915400" y="4983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35440" y="4983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Suricata adapter at /var/log/suricata/eve.json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C01AD6-821A-9A7C-9925-A2C756A925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811" y="1675654"/>
            <a:ext cx="6781810" cy="33909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71FF19-0420-975F-BBC2-E91E6F01E74E}"/>
                  </a:ext>
                </a:extLst>
              </p:cNvPr>
              <p:cNvSpPr txBox="1"/>
              <p:nvPr/>
            </p:nvSpPr>
            <p:spPr>
              <a:xfrm>
                <a:off x="8208997" y="1052718"/>
                <a:ext cx="2592000" cy="97200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PK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K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PK" i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K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K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PK" i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PK" i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PK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PK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K" i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PK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PK" i="1">
                                  <a:ln w="0"/>
                                  <a:effectLst>
                                    <a:outerShdw blurRad="38100" dist="19050" dir="2700000" algn="tl" rotWithShape="0">
                                      <a:schemeClr val="dk1">
                                        <a:alpha val="40000"/>
                                      </a:scheme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K" i="1">
                                  <a:ln w="0"/>
                                  <a:effectLst>
                                    <a:outerShdw blurRad="38100" dist="19050" dir="2700000" algn="tl" rotWithShape="0">
                                      <a:schemeClr val="dk1">
                                        <a:alpha val="40000"/>
                                      </a:scheme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PK" i="1">
                                  <a:ln w="0"/>
                                  <a:effectLst>
                                    <a:outerShdw blurRad="38100" dist="19050" dir="2700000" algn="tl" rotWithShape="0">
                                      <a:schemeClr val="dk1">
                                        <a:alpha val="40000"/>
                                      </a:scheme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PK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K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PK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oogle Sans Tex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71FF19-0420-975F-BBC2-E91E6F01E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997" y="1052718"/>
                <a:ext cx="2592000" cy="972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1">
            <a:extLst>
              <a:ext uri="{FF2B5EF4-FFF2-40B4-BE49-F238E27FC236}">
                <a16:creationId xmlns:a16="http://schemas.microsoft.com/office/drawing/2014/main" id="{400EC6A8-D6F1-F2BC-8E26-A0B219CE267A}"/>
              </a:ext>
            </a:extLst>
          </p:cNvPr>
          <p:cNvSpPr/>
          <p:nvPr/>
        </p:nvSpPr>
        <p:spPr>
          <a:xfrm>
            <a:off x="360997" y="341371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Adaptation Work? A SHAP Explanation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B2AD0C-B8B8-75B4-BB59-38329B670FD8}"/>
                  </a:ext>
                </a:extLst>
              </p:cNvPr>
              <p:cNvSpPr txBox="1"/>
              <p:nvPr/>
            </p:nvSpPr>
            <p:spPr>
              <a:xfrm>
                <a:off x="7541625" y="2044005"/>
                <a:ext cx="4747260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PK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K" sz="1200" b="1" i="1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PK" sz="12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PK" sz="12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K" sz="1200" dirty="0"/>
                  <a:t>Base expected model prediction across training data</a:t>
                </a:r>
                <a:r>
                  <a:rPr lang="en-US" sz="1200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PK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K" sz="1200" b="1" i="1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PK" sz="12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PK" sz="1200" b="1" dirty="0"/>
                  <a:t>(x) </a:t>
                </a:r>
                <a:r>
                  <a:rPr lang="en-PK" sz="1200" dirty="0"/>
                  <a:t>: Exact marginal contribution (impact score) of feature </a:t>
                </a:r>
                <a:r>
                  <a:rPr lang="en-PK" sz="1200" dirty="0" err="1"/>
                  <a:t>i</a:t>
                </a:r>
                <a:r>
                  <a:rPr lang="en-PK" sz="1200" dirty="0"/>
                  <a:t>.</a:t>
                </a:r>
                <a:endParaRPr lang="en-US" sz="12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PK" sz="1200" dirty="0"/>
                  <a:t>Engine : Native </a:t>
                </a:r>
                <a:r>
                  <a:rPr lang="en-PK" sz="1200" dirty="0" err="1"/>
                  <a:t>XGBoost</a:t>
                </a:r>
                <a:r>
                  <a:rPr lang="en-PK" sz="1200" dirty="0"/>
                  <a:t> </a:t>
                </a:r>
                <a:r>
                  <a:rPr lang="en-PK" sz="1200" dirty="0" err="1"/>
                  <a:t>TreeSHAP</a:t>
                </a:r>
                <a:r>
                  <a:rPr lang="en-PK" sz="1200" dirty="0"/>
                  <a:t> (</a:t>
                </a:r>
                <a:r>
                  <a:rPr lang="en-PK" sz="1200" dirty="0" err="1"/>
                  <a:t>pred_contribs</a:t>
                </a:r>
                <a:r>
                  <a:rPr lang="en-PK" sz="1200" dirty="0"/>
                  <a:t>=True) </a:t>
                </a:r>
                <a:endParaRPr lang="en-US" sz="1200" dirty="0"/>
              </a:p>
              <a:p>
                <a:endParaRPr lang="en-US" sz="1200" dirty="0"/>
              </a:p>
              <a:p>
                <a:endParaRPr lang="en-US" sz="1200" dirty="0"/>
              </a:p>
              <a:p>
                <a:endParaRPr lang="en-US" sz="1200" dirty="0"/>
              </a:p>
              <a:p>
                <a:endParaRPr lang="en-US" sz="1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B2AD0C-B8B8-75B4-BB59-38329B670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625" y="2044005"/>
                <a:ext cx="4747260" cy="13849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art Label">
            <a:extLst>
              <a:ext uri="{FF2B5EF4-FFF2-40B4-BE49-F238E27FC236}">
                <a16:creationId xmlns:a16="http://schemas.microsoft.com/office/drawing/2014/main" id="{5B6D482E-F826-384C-2D74-4989CA8ADEEF}"/>
              </a:ext>
            </a:extLst>
          </p:cNvPr>
          <p:cNvSpPr/>
          <p:nvPr/>
        </p:nvSpPr>
        <p:spPr>
          <a:xfrm>
            <a:off x="360997" y="195067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CASE STUDY</a:t>
            </a:r>
            <a:endParaRPr lang="en-US" sz="1250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9B761580-5A48-5E86-AE20-B81228720AE3}"/>
              </a:ext>
            </a:extLst>
          </p:cNvPr>
          <p:cNvSpPr/>
          <p:nvPr/>
        </p:nvSpPr>
        <p:spPr>
          <a:xfrm>
            <a:off x="360997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TreeSHAP feature attribution, baseline vs. ADMO-adapted Tier 1 model, on real live-lab flows</a:t>
            </a:r>
            <a:endParaRPr lang="en-US" sz="1400" dirty="0"/>
          </a:p>
        </p:txBody>
      </p:sp>
      <p:sp>
        <p:nvSpPr>
          <p:cNvPr id="10" name="Insight Card">
            <a:extLst>
              <a:ext uri="{FF2B5EF4-FFF2-40B4-BE49-F238E27FC236}">
                <a16:creationId xmlns:a16="http://schemas.microsoft.com/office/drawing/2014/main" id="{9459DF10-FB00-AC98-37BB-3D91DAE95601}"/>
              </a:ext>
            </a:extLst>
          </p:cNvPr>
          <p:cNvSpPr/>
          <p:nvPr/>
        </p:nvSpPr>
        <p:spPr>
          <a:xfrm>
            <a:off x="7584757" y="2866511"/>
            <a:ext cx="3840480" cy="3474720"/>
          </a:xfrm>
          <a:prstGeom prst="roundRect">
            <a:avLst>
              <a:gd name="adj" fmla="val 4516"/>
            </a:avLst>
          </a:prstGeom>
          <a:solidFill>
            <a:srgbClr val="EAF1E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Insight Label">
            <a:extLst>
              <a:ext uri="{FF2B5EF4-FFF2-40B4-BE49-F238E27FC236}">
                <a16:creationId xmlns:a16="http://schemas.microsoft.com/office/drawing/2014/main" id="{0C44FB10-C4ED-E3E3-94AD-3CEF46BD836C}"/>
              </a:ext>
            </a:extLst>
          </p:cNvPr>
          <p:cNvSpPr/>
          <p:nvPr/>
        </p:nvSpPr>
        <p:spPr>
          <a:xfrm>
            <a:off x="7859077" y="3076822"/>
            <a:ext cx="32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SHIFT</a:t>
            </a:r>
            <a:endParaRPr lang="en-US" sz="1200" dirty="0"/>
          </a:p>
        </p:txBody>
      </p:sp>
      <p:sp>
        <p:nvSpPr>
          <p:cNvPr id="16" name="Insight Body">
            <a:extLst>
              <a:ext uri="{FF2B5EF4-FFF2-40B4-BE49-F238E27FC236}">
                <a16:creationId xmlns:a16="http://schemas.microsoft.com/office/drawing/2014/main" id="{F264254B-8ADA-2677-F1FC-EE8038E0BFA8}"/>
              </a:ext>
            </a:extLst>
          </p:cNvPr>
          <p:cNvSpPr/>
          <p:nvPr/>
        </p:nvSpPr>
        <p:spPr>
          <a:xfrm>
            <a:off x="7859077" y="3415151"/>
            <a:ext cx="3292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b="1" dirty="0" err="1">
                <a:solidFill>
                  <a:srgbClr val="201C1A"/>
                </a:solidFill>
                <a:latin typeface="Calibri" pitchFamily="34" charset="0"/>
              </a:rPr>
              <a:t>Init_Win_bytes_forward</a:t>
            </a:r>
            <a:r>
              <a:rPr lang="en-US" sz="1250" dirty="0">
                <a:solidFill>
                  <a:srgbClr val="201C1A"/>
                </a:solidFill>
                <a:latin typeface="Calibri" pitchFamily="34" charset="0"/>
              </a:rPr>
              <a:t>: 5.42 → 0.56 (largest drop). Model stopped relying on a synthetic-lab socket fingerprint.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201C1A"/>
                </a:solidFill>
                <a:latin typeface="Calibri" pitchFamily="34" charset="0"/>
              </a:rPr>
              <a:t>Flow Duration</a:t>
            </a:r>
            <a:r>
              <a:rPr lang="en-US" sz="1250" dirty="0">
                <a:solidFill>
                  <a:srgbClr val="201C1A"/>
                </a:solidFill>
                <a:latin typeface="Calibri" pitchFamily="34" charset="0"/>
              </a:rPr>
              <a:t>: 0.75 → 1.11 (rise). Shifted weight toward timing/behavioral signal.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201C1A"/>
                </a:solidFill>
                <a:latin typeface="Calibri" pitchFamily="34" charset="0"/>
              </a:rPr>
              <a:t>ACK Flag Count</a:t>
            </a:r>
            <a:r>
              <a:rPr lang="en-US" sz="1250" dirty="0">
                <a:solidFill>
                  <a:srgbClr val="201C1A"/>
                </a:solidFill>
                <a:latin typeface="Calibri" pitchFamily="34" charset="0"/>
              </a:rPr>
              <a:t>: 0.39 → 0.50 (rise). More weight on rate-based behavior.</a:t>
            </a: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E1EF328E-D998-93AF-7033-572F036343FE}"/>
              </a:ext>
            </a:extLst>
          </p:cNvPr>
          <p:cNvSpPr/>
          <p:nvPr/>
        </p:nvSpPr>
        <p:spPr>
          <a:xfrm>
            <a:off x="548640" y="5066558"/>
            <a:ext cx="6781810" cy="1059922"/>
          </a:xfrm>
          <a:prstGeom prst="roundRect">
            <a:avLst>
              <a:gd name="adj" fmla="val 5185"/>
            </a:avLst>
          </a:prstGeom>
          <a:solidFill>
            <a:srgbClr val="F7E7DE"/>
          </a:solidFill>
          <a:ln/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A20080-6879-A454-A8E5-32A0B82561AD}"/>
              </a:ext>
            </a:extLst>
          </p:cNvPr>
          <p:cNvSpPr txBox="1"/>
          <p:nvPr/>
        </p:nvSpPr>
        <p:spPr>
          <a:xfrm>
            <a:off x="698741" y="5134854"/>
            <a:ext cx="63361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2"/>
                </a:solidFill>
                <a:latin typeface="Calibri" pitchFamily="34" charset="0"/>
              </a:rPr>
              <a:t>Adaptation didn’t just raise accuracy — it changed why the model decides, moving from brittle synthetic artifacts toward generalizable behavior</a:t>
            </a:r>
            <a:endParaRPr lang="en-PK" b="1" dirty="0">
              <a:solidFill>
                <a:schemeClr val="accent2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D36D3F4-CCA5-0DDE-8A73-EA903BD7C8B7}"/>
              </a:ext>
            </a:extLst>
          </p:cNvPr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29874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A95F1A-27EF-1A8D-C277-C4F2A37559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42799" y="1660417"/>
            <a:ext cx="8650107" cy="353868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005335B-0E38-3AE2-FCA7-276CABA42B7D}"/>
              </a:ext>
            </a:extLst>
          </p:cNvPr>
          <p:cNvSpPr/>
          <p:nvPr/>
        </p:nvSpPr>
        <p:spPr>
          <a:xfrm>
            <a:off x="528399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ADMO Actually Work?</a:t>
            </a:r>
            <a:endParaRPr lang="en-US" sz="2800" dirty="0"/>
          </a:p>
        </p:txBody>
      </p:sp>
      <p:sp>
        <p:nvSpPr>
          <p:cNvPr id="6" name="Part Label">
            <a:extLst>
              <a:ext uri="{FF2B5EF4-FFF2-40B4-BE49-F238E27FC236}">
                <a16:creationId xmlns:a16="http://schemas.microsoft.com/office/drawing/2014/main" id="{2C087B7C-BE11-865D-C187-DAF1088D461A}"/>
              </a:ext>
            </a:extLst>
          </p:cNvPr>
          <p:cNvSpPr/>
          <p:nvPr/>
        </p:nvSpPr>
        <p:spPr>
          <a:xfrm>
            <a:off x="528399" y="406127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CASE STUDY</a:t>
            </a:r>
            <a:endParaRPr lang="en-US" sz="1250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119AD176-FA60-EA09-4FED-CDFFE3FF32A5}"/>
              </a:ext>
            </a:extLst>
          </p:cNvPr>
          <p:cNvSpPr/>
          <p:nvPr/>
        </p:nvSpPr>
        <p:spPr>
          <a:xfrm>
            <a:off x="548640" y="1293143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 fast-path classifier, evaluated on 4,341 live flows from the VirtualBox lab</a:t>
            </a:r>
            <a:endParaRPr lang="en-US" sz="1400" dirty="0"/>
          </a:p>
        </p:txBody>
      </p:sp>
      <p:sp>
        <p:nvSpPr>
          <p:cNvPr id="10" name="Baseline Card">
            <a:extLst>
              <a:ext uri="{FF2B5EF4-FFF2-40B4-BE49-F238E27FC236}">
                <a16:creationId xmlns:a16="http://schemas.microsoft.com/office/drawing/2014/main" id="{D5A4CA9C-CF05-A3DD-33DD-89625A01A0A1}"/>
              </a:ext>
            </a:extLst>
          </p:cNvPr>
          <p:cNvSpPr/>
          <p:nvPr/>
        </p:nvSpPr>
        <p:spPr>
          <a:xfrm>
            <a:off x="385732" y="5230000"/>
            <a:ext cx="5382120" cy="650000"/>
          </a:xfrm>
          <a:prstGeom prst="roundRect">
            <a:avLst>
              <a:gd name="adj" fmla="val 8000"/>
            </a:avLst>
          </a:prstGeom>
          <a:solidFill>
            <a:srgbClr val="F7E7E4"/>
          </a:solidFill>
          <a:ln/>
        </p:spPr>
        <p:txBody>
          <a:bodyPr wrap="square" lIns="137160" tIns="45720" rIns="137160" bIns="4572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A63A26"/>
                </a:solidFill>
                <a:latin typeface="Calibri" pitchFamily="34" charset="0"/>
              </a:rPr>
              <a:t>ZERO-SHOT BASELINE  </a:t>
            </a:r>
            <a:r>
              <a:rPr lang="en-US" sz="1150" dirty="0">
                <a:solidFill>
                  <a:srgbClr val="201C1A"/>
                </a:solidFill>
                <a:latin typeface="Calibri" pitchFamily="34" charset="0"/>
              </a:rPr>
              <a:t>Accuracy 4.79%  |  DoS Recall 0.00%  |  DoS F1 0.0000</a:t>
            </a:r>
          </a:p>
        </p:txBody>
      </p:sp>
      <p:sp>
        <p:nvSpPr>
          <p:cNvPr id="12" name="Adapted Card">
            <a:extLst>
              <a:ext uri="{FF2B5EF4-FFF2-40B4-BE49-F238E27FC236}">
                <a16:creationId xmlns:a16="http://schemas.microsoft.com/office/drawing/2014/main" id="{3E57B909-671C-1291-A9BF-A5439F884105}"/>
              </a:ext>
            </a:extLst>
          </p:cNvPr>
          <p:cNvSpPr/>
          <p:nvPr/>
        </p:nvSpPr>
        <p:spPr>
          <a:xfrm>
            <a:off x="6067852" y="5230000"/>
            <a:ext cx="5382120" cy="650000"/>
          </a:xfrm>
          <a:prstGeom prst="roundRect">
            <a:avLst>
              <a:gd name="adj" fmla="val 8000"/>
            </a:avLst>
          </a:prstGeom>
          <a:solidFill>
            <a:srgbClr val="EAF1EA"/>
          </a:solidFill>
          <a:ln/>
        </p:spPr>
        <p:txBody>
          <a:bodyPr wrap="square" lIns="137160" tIns="45720" rIns="137160" bIns="4572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C7A5C"/>
                </a:solidFill>
                <a:latin typeface="Calibri" pitchFamily="34" charset="0"/>
              </a:rPr>
              <a:t>ADMO-ADAPTED  </a:t>
            </a:r>
            <a:r>
              <a:rPr lang="en-US" sz="1150" dirty="0">
                <a:solidFill>
                  <a:srgbClr val="201C1A"/>
                </a:solidFill>
                <a:latin typeface="Calibri" pitchFamily="34" charset="0"/>
              </a:rPr>
              <a:t>Accuracy 95.16%  |  DoS Recall 97.96%  |  DoS F1 0.9747</a:t>
            </a:r>
          </a:p>
        </p:txBody>
      </p:sp>
      <p:sp>
        <p:nvSpPr>
          <p:cNvPr id="14" name="Caveat">
            <a:extLst>
              <a:ext uri="{FF2B5EF4-FFF2-40B4-BE49-F238E27FC236}">
                <a16:creationId xmlns:a16="http://schemas.microsoft.com/office/drawing/2014/main" id="{EBA314DE-35FE-8F7C-BF45-7C2D4FE2C1D7}"/>
              </a:ext>
            </a:extLst>
          </p:cNvPr>
          <p:cNvSpPr/>
          <p:nvPr/>
        </p:nvSpPr>
        <p:spPr>
          <a:xfrm>
            <a:off x="385732" y="6000000"/>
            <a:ext cx="1106424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554C"/>
                </a:solidFill>
                <a:latin typeface="Calibri" pitchFamily="34" charset="0"/>
              </a:rPr>
              <a:t>Caveat: Tier 3 (six-class) macro-F1 on this same live holdout is 0.35, not 0.95 — BRUTE_FORCE/WEB_ATTACK had too few live samples in this run to validate multi-class generalization. Tier 1 (binary DoS fast-path) is the claim this experiment robustly proves.</a:t>
            </a:r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4E11D36C-B566-AA44-B12F-C53A9A94AEF5}"/>
              </a:ext>
            </a:extLst>
          </p:cNvPr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67555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t Label">
            <a:extLst>
              <a:ext uri="{FF2B5EF4-FFF2-40B4-BE49-F238E27FC236}">
                <a16:creationId xmlns:a16="http://schemas.microsoft.com/office/drawing/2014/main" id="{6397E50C-4843-5568-BAAB-FCF5F3617A01}"/>
              </a:ext>
            </a:extLst>
          </p:cNvPr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CASE STUDY</a:t>
            </a:r>
            <a:endParaRPr lang="en-US" sz="1250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DF03AFCE-DE35-2392-0BF5-F986FC121592}"/>
              </a:ext>
            </a:extLst>
          </p:cNvPr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Orchestration Throughput</a:t>
            </a:r>
            <a:endParaRPr lang="en-US" sz="2800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704F892-CB86-8F31-EAE2-6D34B59BA68E}"/>
              </a:ext>
            </a:extLst>
          </p:cNvPr>
          <p:cNvSpPr/>
          <p:nvPr/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ADMO-adapted Tier 1/Tier 3 cascade, streamed over 4,341 live lab flows</a:t>
            </a:r>
            <a:endParaRPr lang="en-US" sz="1400" dirty="0"/>
          </a:p>
        </p:txBody>
      </p:sp>
      <p:sp>
        <p:nvSpPr>
          <p:cNvPr id="9" name="Card1">
            <a:extLst>
              <a:ext uri="{FF2B5EF4-FFF2-40B4-BE49-F238E27FC236}">
                <a16:creationId xmlns:a16="http://schemas.microsoft.com/office/drawing/2014/main" id="{AB32D68E-BED6-D9F7-BE61-FAB3DCB93EEA}"/>
              </a:ext>
            </a:extLst>
          </p:cNvPr>
          <p:cNvSpPr/>
          <p:nvPr/>
        </p:nvSpPr>
        <p:spPr>
          <a:xfrm>
            <a:off x="548640" y="205740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EAF1EA"/>
          </a:solidFill>
          <a:ln/>
        </p:spPr>
        <p:txBody>
          <a:bodyPr wrap="square" lIns="182880" tIns="137160" rIns="182880" bIns="13716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C7A5C"/>
                </a:solidFill>
                <a:latin typeface="Cambria" pitchFamily="34" charset="0"/>
              </a:rPr>
              <a:t>96.45%</a:t>
            </a:r>
          </a:p>
          <a:p>
            <a:pPr marL="0" indent="0" algn="ctr">
              <a:buNone/>
            </a:pPr>
            <a:r>
              <a:rPr lang="en-US" sz="1150" b="1" kern="0" spc="100" dirty="0">
                <a:solidFill>
                  <a:srgbClr val="201C1A"/>
                </a:solidFill>
                <a:latin typeface="Calibri" pitchFamily="34" charset="0"/>
              </a:rPr>
              <a:t>TIER 1 FAST-PATH OFFLOAD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</a:rPr>
              <a:t>4,187 of 4,341 flows never reach Tier 3</a:t>
            </a:r>
          </a:p>
        </p:txBody>
      </p:sp>
      <p:sp>
        <p:nvSpPr>
          <p:cNvPr id="11" name="Card2">
            <a:extLst>
              <a:ext uri="{FF2B5EF4-FFF2-40B4-BE49-F238E27FC236}">
                <a16:creationId xmlns:a16="http://schemas.microsoft.com/office/drawing/2014/main" id="{CBD687A5-AD2C-2BE4-7FC1-2FC9A660055D}"/>
              </a:ext>
            </a:extLst>
          </p:cNvPr>
          <p:cNvSpPr/>
          <p:nvPr/>
        </p:nvSpPr>
        <p:spPr>
          <a:xfrm>
            <a:off x="4297680" y="205740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F0EBE0"/>
          </a:solidFill>
          <a:ln/>
        </p:spPr>
        <p:txBody>
          <a:bodyPr wrap="square" lIns="182880" tIns="137160" rIns="182880" bIns="13716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7A32"/>
                </a:solidFill>
                <a:latin typeface="Cambria" pitchFamily="34" charset="0"/>
              </a:rPr>
              <a:t>3.55%</a:t>
            </a:r>
          </a:p>
          <a:p>
            <a:pPr marL="0" indent="0" algn="ctr">
              <a:buNone/>
            </a:pPr>
            <a:r>
              <a:rPr lang="en-US" sz="1150" b="1" kern="0" spc="100" dirty="0">
                <a:solidFill>
                  <a:srgbClr val="201C1A"/>
                </a:solidFill>
                <a:latin typeface="Calibri" pitchFamily="34" charset="0"/>
              </a:rPr>
              <a:t>TIER 3 SLOW-PATH ESCALATION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</a:rPr>
              <a:t>154 flows required the six-class model</a:t>
            </a:r>
          </a:p>
        </p:txBody>
      </p:sp>
      <p:sp>
        <p:nvSpPr>
          <p:cNvPr id="13" name="Card3">
            <a:extLst>
              <a:ext uri="{FF2B5EF4-FFF2-40B4-BE49-F238E27FC236}">
                <a16:creationId xmlns:a16="http://schemas.microsoft.com/office/drawing/2014/main" id="{DFF97F5E-6360-0926-737F-92512229F012}"/>
              </a:ext>
            </a:extLst>
          </p:cNvPr>
          <p:cNvSpPr/>
          <p:nvPr/>
        </p:nvSpPr>
        <p:spPr>
          <a:xfrm>
            <a:off x="8046720" y="205740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EAF1EA"/>
          </a:solidFill>
          <a:ln/>
        </p:spPr>
        <p:txBody>
          <a:bodyPr wrap="square" lIns="182880" tIns="137160" rIns="182880" bIns="13716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C7A5C"/>
                </a:solidFill>
                <a:latin typeface="Cambria" pitchFamily="34" charset="0"/>
              </a:rPr>
              <a:t>773 µs</a:t>
            </a:r>
          </a:p>
          <a:p>
            <a:pPr marL="0" indent="0" algn="ctr">
              <a:buNone/>
            </a:pPr>
            <a:r>
              <a:rPr lang="en-US" sz="1150" b="1" kern="0" spc="100" dirty="0">
                <a:solidFill>
                  <a:srgbClr val="201C1A"/>
                </a:solidFill>
                <a:latin typeface="Calibri" pitchFamily="34" charset="0"/>
              </a:rPr>
              <a:t>AVG. PER-FLOW LATENCY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</a:rPr>
              <a:t>End-to-end, streamed micro-batch simulation</a:t>
            </a:r>
          </a:p>
        </p:txBody>
      </p:sp>
      <p:sp>
        <p:nvSpPr>
          <p:cNvPr id="15" name="Throughput Banner">
            <a:extLst>
              <a:ext uri="{FF2B5EF4-FFF2-40B4-BE49-F238E27FC236}">
                <a16:creationId xmlns:a16="http://schemas.microsoft.com/office/drawing/2014/main" id="{C464B0A3-0AA5-51EF-5FD5-EA797DB7535D}"/>
              </a:ext>
            </a:extLst>
          </p:cNvPr>
          <p:cNvSpPr/>
          <p:nvPr/>
        </p:nvSpPr>
        <p:spPr>
          <a:xfrm>
            <a:off x="548640" y="3931920"/>
            <a:ext cx="11064240" cy="960120"/>
          </a:xfrm>
          <a:prstGeom prst="roundRect">
            <a:avLst>
              <a:gd name="adj" fmla="val 4000"/>
            </a:avLst>
          </a:prstGeom>
          <a:solidFill>
            <a:srgbClr val="201C1A"/>
          </a:solidFill>
          <a:ln/>
        </p:spPr>
        <p:txBody>
          <a:bodyPr wrap="square" lIns="274320" tIns="91440" rIns="274320" bIns="9144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</a:rPr>
              <a:t>1,293 flows/sec  </a:t>
            </a:r>
            <a:r>
              <a:rPr lang="en-US" sz="1400" dirty="0">
                <a:solidFill>
                  <a:srgbClr val="EAF1EA"/>
                </a:solidFill>
                <a:latin typeface="Calibri" pitchFamily="34" charset="0"/>
              </a:rPr>
              <a:t>sustained streaming throughput, this work — single student-laptop CPU, no INT8/compiled inference yet</a:t>
            </a:r>
          </a:p>
        </p:txBody>
      </p:sp>
      <p:sp>
        <p:nvSpPr>
          <p:cNvPr id="17" name="Insight">
            <a:extLst>
              <a:ext uri="{FF2B5EF4-FFF2-40B4-BE49-F238E27FC236}">
                <a16:creationId xmlns:a16="http://schemas.microsoft.com/office/drawing/2014/main" id="{347181C9-8D36-20CD-DFC4-29ED9A2120BB}"/>
              </a:ext>
            </a:extLst>
          </p:cNvPr>
          <p:cNvSpPr/>
          <p:nvPr/>
        </p:nvSpPr>
        <p:spPr>
          <a:xfrm>
            <a:off x="548640" y="5100000"/>
            <a:ext cx="110642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1C1A"/>
                </a:solidFill>
                <a:latin typeface="Calibri" pitchFamily="34" charset="0"/>
              </a:rPr>
              <a:t>96% of flows never reach the six-class Tier 3 model at all — the fast-path/slow-path cascade is working as designed, keeping the expensive multi-class model off the hot path for the vast majority of traffic.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1C1A"/>
                </a:solidFill>
                <a:latin typeface="Calibri" pitchFamily="34" charset="0"/>
              </a:rPr>
              <a:t>This is a pure-Python, single-process streaming simulation on a student laptop — not yet the compiled/multi-worker deployment path, so 1,293 flows/sec is a conservative floor, not a ceiling.</a:t>
            </a: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4F9C0AA8-7CE5-436C-0E11-D96FA351C39D}"/>
              </a:ext>
            </a:extLst>
          </p:cNvPr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59115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CASE STUDY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Worked, and What Fought Back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4526280"/>
          </a:xfrm>
          <a:prstGeom prst="roundRect">
            <a:avLst>
              <a:gd name="adj" fmla="val 1414"/>
            </a:avLst>
          </a:prstGeom>
          <a:solidFill>
            <a:srgbClr val="EAF1E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677924"/>
            <a:ext cx="4709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added latency by construction  confirmed qualitatively during every test run (no dropped or delayed legitimate connections observed)</a:t>
            </a:r>
            <a:endParaRPr lang="en-US" sz="1400" dirty="0"/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JSON's rich schema gave HTTP method/URI and TLS metadata “for free,” strengthening WEB_ATTACK and INFILTRATION alert context</a:t>
            </a:r>
            <a:endParaRPr lang="en-US" sz="1400" dirty="0"/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reload via suricatasc is asynchronous  confirmed live inspection was never interrupted mid-flow</a:t>
            </a:r>
            <a:endParaRPr lang="en-US" sz="1400" dirty="0"/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orchestrator code path as Snort  no rebuild of the ML or dispatch layer, only a new adapter class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257800" cy="4526280"/>
          </a:xfrm>
          <a:prstGeom prst="roundRect">
            <a:avLst>
              <a:gd name="adj" fmla="val 1414"/>
            </a:avLst>
          </a:prstGeom>
          <a:solidFill>
            <a:srgbClr val="F7E7DE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916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A6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FACED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1828800"/>
            <a:ext cx="4709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Notify-based tailing had to handle EVE JSON's append-only, rotating log correctly  without missing or double-reading events</a:t>
            </a:r>
            <a:endParaRPr lang="en-US" sz="1400" dirty="0"/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Train/serving skew risk: live CICFlowMeter output and the training CSVs had to be forced onto one identical feature schema</a:t>
            </a:r>
            <a:endParaRPr lang="en-US" sz="1400" dirty="0"/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host + WSL2 + VirtualBox resource contention when pfSense VM, CICFlowMeter, and the orchestrator all ran at once</a:t>
            </a:r>
            <a:endParaRPr lang="en-US" sz="1400" dirty="0"/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First-packet exposure window: the first packets of a brand-new flow reach the LAN before Suricata/ADMO has classified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CASE STUDY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End: From Packet to Block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432304" cy="868680"/>
          </a:xfrm>
          <a:prstGeom prst="roundRect">
            <a:avLst>
              <a:gd name="adj" fmla="val 7368"/>
            </a:avLst>
          </a:prstGeom>
          <a:solidFill>
            <a:srgbClr val="F3F0E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0020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80136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attack PCAP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12648" y="194767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→ pfSense WAN, e.g. 100 pkt/s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17520" y="1860804"/>
            <a:ext cx="310896" cy="164592"/>
          </a:xfrm>
          <a:prstGeom prst="rightArrow">
            <a:avLst/>
          </a:prstGeom>
          <a:solidFill>
            <a:srgbClr val="5B554C"/>
          </a:solidFill>
          <a:ln/>
        </p:spPr>
      </p:sp>
      <p:sp>
        <p:nvSpPr>
          <p:cNvPr id="9" name="Shape 7"/>
          <p:cNvSpPr/>
          <p:nvPr/>
        </p:nvSpPr>
        <p:spPr>
          <a:xfrm>
            <a:off x="3364992" y="1508760"/>
            <a:ext cx="2432304" cy="868680"/>
          </a:xfrm>
          <a:prstGeom prst="roundRect">
            <a:avLst>
              <a:gd name="adj" fmla="val 7368"/>
            </a:avLst>
          </a:prstGeom>
          <a:solidFill>
            <a:srgbClr val="F3F0E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0020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0" y="180136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+ CICFlowMeter observe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4720" y="191109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mirrored copy, em1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33872" y="1860804"/>
            <a:ext cx="310896" cy="164592"/>
          </a:xfrm>
          <a:prstGeom prst="rightArrow">
            <a:avLst/>
          </a:prstGeom>
          <a:solidFill>
            <a:srgbClr val="5B554C"/>
          </a:solidFill>
          <a:ln/>
        </p:spPr>
      </p:sp>
      <p:sp>
        <p:nvSpPr>
          <p:cNvPr id="14" name="Shape 12"/>
          <p:cNvSpPr/>
          <p:nvPr/>
        </p:nvSpPr>
        <p:spPr>
          <a:xfrm>
            <a:off x="6181344" y="1508760"/>
            <a:ext cx="2432304" cy="868680"/>
          </a:xfrm>
          <a:prstGeom prst="roundRect">
            <a:avLst>
              <a:gd name="adj" fmla="val 7368"/>
            </a:avLst>
          </a:prstGeom>
          <a:solidFill>
            <a:srgbClr val="F3F0EC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60020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91072" y="180136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classifier verdict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54496" y="193243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AlertRecord → policy table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50224" y="1860804"/>
            <a:ext cx="310896" cy="164592"/>
          </a:xfrm>
          <a:prstGeom prst="rightArrow">
            <a:avLst/>
          </a:prstGeom>
          <a:solidFill>
            <a:srgbClr val="5B554C"/>
          </a:solidFill>
          <a:ln/>
        </p:spPr>
      </p:sp>
      <p:sp>
        <p:nvSpPr>
          <p:cNvPr id="19" name="Shape 17"/>
          <p:cNvSpPr/>
          <p:nvPr/>
        </p:nvSpPr>
        <p:spPr>
          <a:xfrm>
            <a:off x="8997696" y="1508760"/>
            <a:ext cx="2432304" cy="868680"/>
          </a:xfrm>
          <a:prstGeom prst="roundRect">
            <a:avLst>
              <a:gd name="adj" fmla="val 7368"/>
            </a:avLst>
          </a:prstGeom>
          <a:solidFill>
            <a:srgbClr val="F3F0EC"/>
          </a:solidFill>
          <a:ln/>
        </p:spPr>
      </p:sp>
      <p:sp>
        <p:nvSpPr>
          <p:cNvPr id="20" name="Text 18"/>
          <p:cNvSpPr/>
          <p:nvPr/>
        </p:nvSpPr>
        <p:spPr>
          <a:xfrm>
            <a:off x="9107424" y="160020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07424" y="180136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pfctl block appears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05900" y="189280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snort2c table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2697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FOOTPRINT  STUDENT LAPTOP, FULL SYSTEM RUNNING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01752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F3F0E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VM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3401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 MB RAM · 15–25% of 1 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73552" y="301752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F3F0EC"/>
          </a:solidFill>
          <a:ln/>
        </p:spPr>
      </p:sp>
      <p:sp>
        <p:nvSpPr>
          <p:cNvPr id="28" name="Text 26"/>
          <p:cNvSpPr/>
          <p:nvPr/>
        </p:nvSpPr>
        <p:spPr>
          <a:xfrm>
            <a:off x="3410712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CICFlowMeter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10712" y="3401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MB RAM · 20–30% of 1 core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98464" y="301752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F3F0EC"/>
          </a:solidFill>
          <a:ln/>
        </p:spPr>
      </p:sp>
      <p:sp>
        <p:nvSpPr>
          <p:cNvPr id="31" name="Text 29"/>
          <p:cNvSpPr/>
          <p:nvPr/>
        </p:nvSpPr>
        <p:spPr>
          <a:xfrm>
            <a:off x="6135624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ADMO Orchestrator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35624" y="3401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MB RAM · 5–10% of 1 core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723376" y="301752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201C1A"/>
          </a:solidFill>
          <a:ln/>
        </p:spPr>
      </p:sp>
      <p:sp>
        <p:nvSpPr>
          <p:cNvPr id="34" name="Text 32"/>
          <p:cNvSpPr/>
          <p:nvPr/>
        </p:nvSpPr>
        <p:spPr>
          <a:xfrm>
            <a:off x="8860536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860536" y="3401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 GB RAM · 40–65% of 1 core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251960"/>
            <a:ext cx="10881360" cy="1783080"/>
          </a:xfrm>
          <a:prstGeom prst="roundRect">
            <a:avLst>
              <a:gd name="adj" fmla="val 3590"/>
            </a:avLst>
          </a:prstGeom>
          <a:solidFill>
            <a:srgbClr val="F7E7DE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44348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A6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OBSERVED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96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5–10 seconds of replaying a DDoS PCAP, the orchestrator printed a threat-detection message and the attacker IP appeared in pfctl -t snort2c -T show  the interconnection works end to end, on the harder (Suricata) integration path, well within the resource budget of a single student laptop.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2960" y="5532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6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ITEM: attach your actual terminal capture / screenshot of “pfctl -t snort2c -T show” with a real blocked IP, and the orchestrator's console log  this is your strongest single piece of case-study evidence]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· NUMERICAL PROOF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I'm Proving Viability  Not Just Claiming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432304" cy="777240"/>
          </a:xfrm>
          <a:prstGeom prst="roundRect">
            <a:avLst>
              <a:gd name="adj" fmla="val 8235"/>
            </a:avLst>
          </a:prstGeom>
          <a:solidFill>
            <a:srgbClr val="F3F0E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5448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5773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finalised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16733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cache write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17520" y="1769364"/>
            <a:ext cx="310896" cy="164592"/>
          </a:xfrm>
          <a:prstGeom prst="rightArrow">
            <a:avLst/>
          </a:prstGeom>
          <a:solidFill>
            <a:srgbClr val="5B554C"/>
          </a:solidFill>
          <a:ln/>
        </p:spPr>
      </p:sp>
      <p:sp>
        <p:nvSpPr>
          <p:cNvPr id="9" name="Shape 7"/>
          <p:cNvSpPr/>
          <p:nvPr/>
        </p:nvSpPr>
        <p:spPr>
          <a:xfrm>
            <a:off x="3364992" y="1463040"/>
            <a:ext cx="2432304" cy="777240"/>
          </a:xfrm>
          <a:prstGeom prst="roundRect">
            <a:avLst>
              <a:gd name="adj" fmla="val 8235"/>
            </a:avLst>
          </a:prstGeom>
          <a:solidFill>
            <a:srgbClr val="F3F0E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5448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0" y="157886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extracted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4720" y="16733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12 ready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33872" y="1769364"/>
            <a:ext cx="310896" cy="164592"/>
          </a:xfrm>
          <a:prstGeom prst="rightArrow">
            <a:avLst/>
          </a:prstGeom>
          <a:solidFill>
            <a:srgbClr val="5B554C"/>
          </a:solidFill>
          <a:ln/>
        </p:spPr>
      </p:sp>
      <p:sp>
        <p:nvSpPr>
          <p:cNvPr id="14" name="Shape 12"/>
          <p:cNvSpPr/>
          <p:nvPr/>
        </p:nvSpPr>
        <p:spPr>
          <a:xfrm>
            <a:off x="6181344" y="1463040"/>
            <a:ext cx="2432304" cy="777240"/>
          </a:xfrm>
          <a:prstGeom prst="roundRect">
            <a:avLst>
              <a:gd name="adj" fmla="val 8235"/>
            </a:avLst>
          </a:prstGeom>
          <a:solidFill>
            <a:srgbClr val="F3F0EC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55448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91072" y="157886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complete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91072" y="16733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confidence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50224" y="1769364"/>
            <a:ext cx="310896" cy="164592"/>
          </a:xfrm>
          <a:prstGeom prst="rightArrow">
            <a:avLst/>
          </a:prstGeom>
          <a:solidFill>
            <a:srgbClr val="5B554C"/>
          </a:solidFill>
          <a:ln/>
        </p:spPr>
      </p:sp>
      <p:sp>
        <p:nvSpPr>
          <p:cNvPr id="19" name="Shape 17"/>
          <p:cNvSpPr/>
          <p:nvPr/>
        </p:nvSpPr>
        <p:spPr>
          <a:xfrm>
            <a:off x="8997696" y="1463040"/>
            <a:ext cx="2432304" cy="777240"/>
          </a:xfrm>
          <a:prstGeom prst="roundRect">
            <a:avLst>
              <a:gd name="adj" fmla="val 8235"/>
            </a:avLst>
          </a:prstGeom>
          <a:solidFill>
            <a:srgbClr val="F3F0EC"/>
          </a:solidFill>
          <a:ln/>
        </p:spPr>
      </p:sp>
      <p:sp>
        <p:nvSpPr>
          <p:cNvPr id="20" name="Text 18"/>
          <p:cNvSpPr/>
          <p:nvPr/>
        </p:nvSpPr>
        <p:spPr>
          <a:xfrm>
            <a:off x="9107424" y="155448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07424" y="160477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injected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07424" y="16733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pfctl / snort2c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514600"/>
            <a:ext cx="5303520" cy="1874520"/>
          </a:xfrm>
          <a:prstGeom prst="roundRect">
            <a:avLst>
              <a:gd name="adj" fmla="val 3415"/>
            </a:avLst>
          </a:prstGeom>
          <a:solidFill>
            <a:srgbClr val="F3F0E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2697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BASELINE COMPARISON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30175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augmentation  ×  SMOTE-only  ×  CTGAN+SMOTEENN  each trained for both XGBoost and LightGBM, isolating CTGAN's marginal contribution over plain SMOTE.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2514600"/>
            <a:ext cx="5303520" cy="1874520"/>
          </a:xfrm>
          <a:prstGeom prst="roundRect">
            <a:avLst>
              <a:gd name="adj" fmla="val 3415"/>
            </a:avLst>
          </a:prstGeom>
          <a:solidFill>
            <a:srgbClr val="F3F0EC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697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RIGOUR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30175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trials, 100-sample warm-up, single-core CPU affinity pinned, nanosecond timer. Results reported at P50 / P95 / P99. Stratified 5-fold CV so INFILTRATION appears in every fold.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201C1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8006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GUARD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510235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trains only on the 80% training split; the 20% test split is 100% real, non-synthetic records; any synthetic sample within a Euclidean distance of 0.01 (normalised) of a test point is discarded. What follows is measured against real, unseen traffic  not against the model's own synthetic data.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PROOF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FF873A43-86D2-BDFB-5B71-E01E9816F878}"/>
              </a:ext>
            </a:extLst>
          </p:cNvPr>
          <p:cNvSpPr/>
          <p:nvPr/>
        </p:nvSpPr>
        <p:spPr>
          <a:xfrm>
            <a:off x="548640" y="3566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· NUMERICAL PROOF</a:t>
            </a:r>
            <a:endParaRPr lang="en-US" sz="125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3080DB62-530C-E07D-0E89-AE17D5454720}"/>
              </a:ext>
            </a:extLst>
          </p:cNvPr>
          <p:cNvSpPr/>
          <p:nvPr/>
        </p:nvSpPr>
        <p:spPr>
          <a:xfrm>
            <a:off x="548640" y="6858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Detection Slow the Network?</a:t>
            </a:r>
            <a:endParaRPr lang="en-US" sz="2800" dirty="0"/>
          </a:p>
        </p:txBody>
      </p:sp>
      <p:graphicFrame>
        <p:nvGraphicFramePr>
          <p:cNvPr id="29" name="Chart 0">
            <a:extLst>
              <a:ext uri="{FF2B5EF4-FFF2-40B4-BE49-F238E27FC236}">
                <a16:creationId xmlns:a16="http://schemas.microsoft.com/office/drawing/2014/main" id="{0123C037-6089-85EE-16D2-127FC490FB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8939773"/>
              </p:ext>
            </p:extLst>
          </p:nvPr>
        </p:nvGraphicFramePr>
        <p:xfrm>
          <a:off x="548640" y="1389888"/>
          <a:ext cx="6858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5">
            <a:extLst>
              <a:ext uri="{FF2B5EF4-FFF2-40B4-BE49-F238E27FC236}">
                <a16:creationId xmlns:a16="http://schemas.microsoft.com/office/drawing/2014/main" id="{CBAFE17C-C3A8-59FE-53ED-8DD01F8BA015}"/>
              </a:ext>
            </a:extLst>
          </p:cNvPr>
          <p:cNvSpPr/>
          <p:nvPr/>
        </p:nvSpPr>
        <p:spPr>
          <a:xfrm>
            <a:off x="7635240" y="1389888"/>
            <a:ext cx="3794760" cy="1920240"/>
          </a:xfrm>
          <a:prstGeom prst="roundRect">
            <a:avLst>
              <a:gd name="adj" fmla="val 3333"/>
            </a:avLst>
          </a:prstGeom>
          <a:solidFill>
            <a:srgbClr val="201C1A"/>
          </a:solidFill>
          <a:ln/>
        </p:spPr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7AAE02A3-051C-B224-29DF-58D06F3192B9}"/>
              </a:ext>
            </a:extLst>
          </p:cNvPr>
          <p:cNvSpPr/>
          <p:nvPr/>
        </p:nvSpPr>
        <p:spPr>
          <a:xfrm>
            <a:off x="7863840" y="15453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FORWARDING LATENCY</a:t>
            </a:r>
            <a:endParaRPr lang="en-US" sz="95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E0A5CFE9-C972-9096-B2C4-D68C59CD1F7A}"/>
              </a:ext>
            </a:extLst>
          </p:cNvPr>
          <p:cNvSpPr/>
          <p:nvPr/>
        </p:nvSpPr>
        <p:spPr>
          <a:xfrm>
            <a:off x="7863840" y="180136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FE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 ms</a:t>
            </a:r>
            <a:endParaRPr lang="en-US" sz="34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E5F14F6D-2F17-4DF3-A2AB-2CAADA90C9A6}"/>
              </a:ext>
            </a:extLst>
          </p:cNvPr>
          <p:cNvSpPr/>
          <p:nvPr/>
        </p:nvSpPr>
        <p:spPr>
          <a:xfrm>
            <a:off x="7863840" y="251460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Architecturally guaranteed at every percentile  ADMO only ever sees packets already forwarded.</a:t>
            </a:r>
            <a:endParaRPr lang="en-US" sz="1000" dirty="0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AA78C24A-6345-1C22-A45E-7D3BAF68165E}"/>
              </a:ext>
            </a:extLst>
          </p:cNvPr>
          <p:cNvSpPr/>
          <p:nvPr/>
        </p:nvSpPr>
        <p:spPr>
          <a:xfrm>
            <a:off x="7635240" y="3493008"/>
            <a:ext cx="3794760" cy="2057400"/>
          </a:xfrm>
          <a:prstGeom prst="roundRect">
            <a:avLst>
              <a:gd name="adj" fmla="val 3111"/>
            </a:avLst>
          </a:prstGeom>
          <a:solidFill>
            <a:srgbClr val="F3F0EC"/>
          </a:solidFill>
          <a:ln/>
        </p:spPr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7EDB0A9B-BAA2-21C4-AF43-49E9A589401A}"/>
              </a:ext>
            </a:extLst>
          </p:cNvPr>
          <p:cNvSpPr/>
          <p:nvPr/>
        </p:nvSpPr>
        <p:spPr>
          <a:xfrm>
            <a:off x="7863840" y="36301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C5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L_TOTAL STILL WINS</a:t>
            </a:r>
            <a:endParaRPr lang="en-US" sz="950" dirty="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3E352069-8F6B-99AE-8977-1988ACE8514F}"/>
              </a:ext>
            </a:extLst>
          </p:cNvPr>
          <p:cNvSpPr/>
          <p:nvPr/>
        </p:nvSpPr>
        <p:spPr>
          <a:xfrm>
            <a:off x="7863840" y="3922776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Tier 1 P50 is 1.54ms, above the 1ms inter-packet gap at 1,000 pkt/s but Tier 1 classifies per FLOW, not per packet, so this still blocks a flood within its first few packets. Un-quantized, pure-Python inference; INT8 quantization is the concrete next step to close the remaining gap to the &lt;0.5ms target.</a:t>
            </a:r>
            <a:endParaRPr lang="en-US" sz="105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CB6D9DB6-5447-A2F5-3240-4EB2626BFF5D}"/>
              </a:ext>
            </a:extLst>
          </p:cNvPr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PROOF</a:t>
            </a:r>
            <a:endParaRPr lang="en-US" sz="90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210157B0-89FC-8EE7-66F6-27EDEFD45132}"/>
              </a:ext>
            </a:extLst>
          </p:cNvPr>
          <p:cNvSpPr/>
          <p:nvPr/>
        </p:nvSpPr>
        <p:spPr>
          <a:xfrm>
            <a:off x="11064240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· NUMERICAL PROOF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Catch the Rare Attacks?</a:t>
            </a:r>
            <a:endParaRPr lang="en-US" sz="2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417320"/>
          <a:ext cx="74066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183880" y="1417320"/>
            <a:ext cx="3246120" cy="2057400"/>
          </a:xfrm>
          <a:prstGeom prst="roundRect">
            <a:avLst>
              <a:gd name="adj" fmla="val 3111"/>
            </a:avLst>
          </a:prstGeom>
          <a:solidFill>
            <a:srgbClr val="201C1A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0" y="157276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412480" y="18288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8412480" y="254203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i="1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(0.9765 precisely)  exceeds the original 0.94–0.97 expected range; not accuracy, which would hide this entirely under 83% BENIGN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PROOF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32</a:t>
            </a:r>
            <a:endParaRPr lang="en-US" sz="9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7F18EB46-97C9-711E-B3E3-352AB39FD272}"/>
              </a:ext>
            </a:extLst>
          </p:cNvPr>
          <p:cNvSpPr/>
          <p:nvPr/>
        </p:nvSpPr>
        <p:spPr>
          <a:xfrm>
            <a:off x="8183880" y="3657600"/>
            <a:ext cx="3246120" cy="1920240"/>
          </a:xfrm>
          <a:prstGeom prst="roundRect">
            <a:avLst>
              <a:gd name="adj" fmla="val 3333"/>
            </a:avLst>
          </a:prstGeom>
          <a:solidFill>
            <a:srgbClr val="F3F0EC"/>
          </a:solidFill>
          <a:ln/>
        </p:spPr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4A0F234F-0300-0207-C9BE-F323A0E2CD5C}"/>
              </a:ext>
            </a:extLst>
          </p:cNvPr>
          <p:cNvSpPr/>
          <p:nvPr/>
        </p:nvSpPr>
        <p:spPr>
          <a:xfrm>
            <a:off x="8412480" y="37947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C5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CONFUSION PATTERN</a:t>
            </a:r>
            <a:endParaRPr lang="en-US" sz="95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BFAEEE2A-6864-A88F-2BF0-CC7DD7FB4BA8}"/>
              </a:ext>
            </a:extLst>
          </p:cNvPr>
          <p:cNvSpPr/>
          <p:nvPr/>
        </p:nvSpPr>
        <p:spPr>
          <a:xfrm>
            <a:off x="8412480" y="40690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 → BENIGN: 1,610 of 21,070 true INFILTRATION flows (7.6%)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model’s dominant error mode on the held-out test set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this thesis’s own documented BENIGN/INFILTRATION overlap finding (Ch. 5)</a:t>
            </a:r>
            <a:endParaRPr lang="en-US" sz="1000" dirty="0"/>
          </a:p>
        </p:txBody>
      </p:sp>
      <p:graphicFrame>
        <p:nvGraphicFramePr>
          <p:cNvPr id="25" name="Chart 0">
            <a:extLst>
              <a:ext uri="{FF2B5EF4-FFF2-40B4-BE49-F238E27FC236}">
                <a16:creationId xmlns:a16="http://schemas.microsoft.com/office/drawing/2014/main" id="{F1D40CA7-FF2E-646D-03B7-76A5E3DB25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2988308"/>
              </p:ext>
            </p:extLst>
          </p:nvPr>
        </p:nvGraphicFramePr>
        <p:xfrm>
          <a:off x="662940" y="1451538"/>
          <a:ext cx="74066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· NUMERICAL PROOF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Actually Ships?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78627"/>
              </p:ext>
            </p:extLst>
          </p:nvPr>
        </p:nvGraphicFramePr>
        <p:xfrm>
          <a:off x="548640" y="1417320"/>
          <a:ext cx="10881360" cy="3392424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Macro-F1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0.9765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0.9751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C5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INFILTRATION F1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0.9522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0.9434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C5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Inference P50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1.48 ms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0.42 ms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C5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Training time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90–150 min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30–60 min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C5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(3×)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 size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45–80 MB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25–40 MB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C5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Memory at inference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350–500 MB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200–300 MB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C5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PROOF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8">
            <a:extLst>
              <a:ext uri="{FF2B5EF4-FFF2-40B4-BE49-F238E27FC236}">
                <a16:creationId xmlns:a16="http://schemas.microsoft.com/office/drawing/2014/main" id="{F094810B-4429-2893-5EEA-176210C278C8}"/>
              </a:ext>
            </a:extLst>
          </p:cNvPr>
          <p:cNvSpPr/>
          <p:nvPr/>
        </p:nvSpPr>
        <p:spPr>
          <a:xfrm>
            <a:off x="8092440" y="3108960"/>
            <a:ext cx="3337560" cy="2514600"/>
          </a:xfrm>
          <a:prstGeom prst="roundRect">
            <a:avLst>
              <a:gd name="adj" fmla="val 2979"/>
            </a:avLst>
          </a:prstGeom>
          <a:solidFill>
            <a:srgbClr val="F3F0EC"/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· NUMERICAL PROOF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False Positive Cost?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823276"/>
              </p:ext>
            </p:extLst>
          </p:nvPr>
        </p:nvGraphicFramePr>
        <p:xfrm>
          <a:off x="548640" y="1417320"/>
          <a:ext cx="7315200" cy="4284738"/>
        </p:xfrm>
        <a:graphic>
          <a:graphicData uri="http://schemas.openxmlformats.org/drawingml/2006/table">
            <a:tbl>
              <a:tblPr/>
              <a:tblGrid>
                <a:gridCol w="1851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 (% of BENIGN)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FPs / 1M flows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DoS/DDoS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~0.10–0.40%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~1,000–4,000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Briefly throttled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BOTNET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~0.08–0.20%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~800–2,000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Temporarily blocked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BRUTE_FORCE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~0.05–0.15%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~500–1,500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SSH/FTP blocked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WEB_ATTACK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~0.15–0.35%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~1,500–3,500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Redirected to WAF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INFILTRATION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~0.02–0.08%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~200–800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Logged, no auto-block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PROOF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32</a:t>
            </a:r>
            <a:endParaRPr lang="en-US" sz="9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713EB4B5-5DCC-7256-E53D-B2B7F9724EED}"/>
              </a:ext>
            </a:extLst>
          </p:cNvPr>
          <p:cNvSpPr/>
          <p:nvPr/>
        </p:nvSpPr>
        <p:spPr>
          <a:xfrm>
            <a:off x="8092440" y="1508760"/>
            <a:ext cx="3337560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A6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2.20%</a:t>
            </a:r>
            <a:endParaRPr lang="en-US" sz="40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E44FACD5-D3AF-009B-E1A3-024EABECF425}"/>
              </a:ext>
            </a:extLst>
          </p:cNvPr>
          <p:cNvSpPr/>
          <p:nvPr/>
        </p:nvSpPr>
        <p:spPr>
          <a:xfrm>
            <a:off x="8092440" y="2387498"/>
            <a:ext cx="33375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FPR (measured)</a:t>
            </a:r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FFF13936-2B26-FDD0-9B1C-880E8AC6746F}"/>
              </a:ext>
            </a:extLst>
          </p:cNvPr>
          <p:cNvSpPr/>
          <p:nvPr/>
        </p:nvSpPr>
        <p:spPr>
          <a:xfrm>
            <a:off x="8092440" y="2699309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~18,230 daily FPs at 1M flows/day (assuming 83% BENIGN traffic)</a:t>
            </a:r>
            <a:endParaRPr lang="en-US" sz="95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E8C13583-3A07-9FA2-DFBC-83BC50117E65}"/>
              </a:ext>
            </a:extLst>
          </p:cNvPr>
          <p:cNvSpPr/>
          <p:nvPr/>
        </p:nvSpPr>
        <p:spPr>
          <a:xfrm>
            <a:off x="8321040" y="32735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C5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MITIGATION LEVER</a:t>
            </a:r>
            <a:endParaRPr lang="en-US" sz="9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34EC69-9B4A-9C7A-A8F0-5E6F33D82316}"/>
              </a:ext>
            </a:extLst>
          </p:cNvPr>
          <p:cNvSpPr txBox="1"/>
          <p:nvPr/>
        </p:nvSpPr>
        <p:spPr>
          <a:xfrm>
            <a:off x="8237795" y="3429000"/>
            <a:ext cx="3146485" cy="2175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 drives 93% of all false positives (344 of 369) — not DoS/DDoS, whose measured FPR is already just 0.05%. Because INFILTRATION alerts are logged, not auto-blocked, real subscriber impact is far lower than the headline 2.20% suggests. The actual mitigation lever is BENIGN/INFILTRATION disambiguation specifically, consistent with the confusion pattern already flagged in Ch. 5 — raising the DDoS threshold, by contrast, would barely move the real number.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01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· NUMERICAL PROOF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 Is It Viable?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1234440"/>
          </a:xfrm>
          <a:prstGeom prst="roundRect">
            <a:avLst>
              <a:gd name="adj" fmla="val 5185"/>
            </a:avLst>
          </a:prstGeom>
          <a:solidFill>
            <a:srgbClr val="2B272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18488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61848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12-feature header-only classifier match full-feature baselines?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0" y="161848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Architecturally yes  modest Macro-F1 trade-off (~0.02–0.05) traded for TLS survival and GDPR compliance.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0881360" cy="1234440"/>
          </a:xfrm>
          <a:prstGeom prst="roundRect">
            <a:avLst>
              <a:gd name="adj" fmla="val 5185"/>
            </a:avLst>
          </a:prstGeom>
          <a:solidFill>
            <a:srgbClr val="2B272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90088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299008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CTGAN+SMOTEENN beat SMOTE-only for minority classes?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0" y="299008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expected gain on BOTNET/INFILTRATION  mechanism is sound; magnitude needs confirming.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0881360" cy="1234440"/>
          </a:xfrm>
          <a:prstGeom prst="roundRect">
            <a:avLst>
              <a:gd name="adj" fmla="val 5185"/>
            </a:avLst>
          </a:prstGeom>
          <a:solidFill>
            <a:srgbClr val="2B272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61688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436168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out-of-band placement eliminate inline latency?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436168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by construction  0.00ms forwarding impact is architectural, not statistical.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12680" y="4700706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5C7A5C"/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21" name="Text 19"/>
          <p:cNvSpPr/>
          <p:nvPr/>
        </p:nvSpPr>
        <p:spPr>
          <a:xfrm>
            <a:off x="10012680" y="4709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ARCHITECTURALLY PROVEN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8640" y="5806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</a:t>
            </a:r>
            <a:r>
              <a:rPr lang="en-US" sz="1300" dirty="0">
                <a:solidFill>
                  <a:srgbClr val="F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ADMO is viable in architecture and as a working proof of concept today. Production-scale viability at ISP Italia additionally requires the Chapter 6 measured numbers, and a ~10,000× throughput scaling path (Section 7.2) beyond student-laptop hardware.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PROOF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32</a:t>
            </a:r>
            <a:endParaRPr lang="en-US" sz="900" dirty="0"/>
          </a:p>
        </p:txBody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481E4B26-609F-CB61-EB78-95A63E86D6F6}"/>
              </a:ext>
            </a:extLst>
          </p:cNvPr>
          <p:cNvSpPr/>
          <p:nvPr/>
        </p:nvSpPr>
        <p:spPr>
          <a:xfrm>
            <a:off x="10012680" y="3323844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5C7A5C"/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7C7C1DB2-20CA-E5D1-3ED2-2B89D043F40F}"/>
              </a:ext>
            </a:extLst>
          </p:cNvPr>
          <p:cNvSpPr/>
          <p:nvPr/>
        </p:nvSpPr>
        <p:spPr>
          <a:xfrm>
            <a:off x="10012680" y="1902441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5C7A5C"/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10CA684A-00B3-B7B9-0FDB-3728BDB7D914}"/>
              </a:ext>
            </a:extLst>
          </p:cNvPr>
          <p:cNvSpPr/>
          <p:nvPr/>
        </p:nvSpPr>
        <p:spPr>
          <a:xfrm>
            <a:off x="10012680" y="33101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ARCHITECTURALLY PROVEN</a:t>
            </a:r>
            <a:endParaRPr lang="en-US" sz="700" dirty="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11E358E0-A094-5CF8-2BAD-A4674358E3CD}"/>
              </a:ext>
            </a:extLst>
          </p:cNvPr>
          <p:cNvSpPr/>
          <p:nvPr/>
        </p:nvSpPr>
        <p:spPr>
          <a:xfrm>
            <a:off x="10012680" y="1910895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ARCHITECTURALLY PROVEN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 · THE HONEST RECKONING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Falls Short  Named on Purpose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93392" cy="4434840"/>
          </a:xfrm>
          <a:prstGeom prst="roundRect">
            <a:avLst>
              <a:gd name="adj" fmla="val 2752"/>
            </a:avLst>
          </a:prstGeom>
          <a:solidFill>
            <a:srgbClr val="F3F0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6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20574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First-packet exposure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496312"/>
            <a:ext cx="166420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flows reach the LAN before analysis completes. Bounded for DDoS (seconds); permanent for a single-shot zero-day.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thin inline signature layer for known single-shot exploits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16352" y="1508760"/>
            <a:ext cx="1993392" cy="4434840"/>
          </a:xfrm>
          <a:prstGeom prst="roundRect">
            <a:avLst>
              <a:gd name="adj" fmla="val 2752"/>
            </a:avLst>
          </a:prstGeom>
          <a:solidFill>
            <a:srgbClr val="F3F0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80944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6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80944" y="20574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is 2017–18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80944" y="2496312"/>
            <a:ext cx="166420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7–8-year gap to today's attack patterns (concept drift). Results are an upper bound, not a live-traffic promise. Also: live-lab validation of the six-class Tier 3 model is currently limited by minority-class sample volume (BRUTE_FORCE/WEB_ATTACK underrepresented in the current traffic-generation session; macro-F1 there is 0.35, not the CICIDS 0.98).</a:t>
            </a:r>
            <a:endParaRPr lang="en-US" sz="1050" dirty="0"/>
          </a:p>
          <a:p>
            <a:pPr>
              <a:lnSpc>
                <a:spcPct val="108000"/>
              </a:lnSpc>
            </a:pPr>
            <a:endParaRPr lang="en-US" sz="1050" dirty="0"/>
          </a:p>
          <a:p>
            <a:pPr>
              <a:lnSpc>
                <a:spcPct val="108000"/>
              </a:lnSpc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quarterly retraining on GDPR-safe flow features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84064" y="1508760"/>
            <a:ext cx="1993392" cy="4434840"/>
          </a:xfrm>
          <a:prstGeom prst="roundRect">
            <a:avLst>
              <a:gd name="adj" fmla="val 2752"/>
            </a:avLst>
          </a:prstGeom>
          <a:solidFill>
            <a:srgbClr val="F3F0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48656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6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48656" y="20574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Five-minute batch latency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48656" y="2496312"/>
            <a:ext cx="166420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Sophisticated multi-class attacks aren't fully classified for up to 5 minutes. Fine for slow campaigns; risky for flash events.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streaming aggregation (Kafka/Flink), sub-30s windows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51776" y="1508760"/>
            <a:ext cx="1993392" cy="4434840"/>
          </a:xfrm>
          <a:prstGeom prst="roundRect">
            <a:avLst>
              <a:gd name="adj" fmla="val 2752"/>
            </a:avLst>
          </a:prstGeom>
          <a:solidFill>
            <a:srgbClr val="F3F0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16368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6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16368" y="20574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Student-laptop hardware only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16368" y="2496312"/>
            <a:ext cx="166420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latency figures are conservative upper bounds  no SmartNIC, GPU, or server-grade hardware was used.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via published hardware benchmark projections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19488" y="1508760"/>
            <a:ext cx="1993392" cy="4434840"/>
          </a:xfrm>
          <a:prstGeom prst="roundRect">
            <a:avLst>
              <a:gd name="adj" fmla="val 2752"/>
            </a:avLst>
          </a:prstGeom>
          <a:solidFill>
            <a:srgbClr val="F3F0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84080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6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784080" y="20574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Single-ISP validation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4080" y="2496312"/>
            <a:ext cx="166420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only for Telecom Italia's pfSense environment. Component 5 is pfSense-specific by design.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NOS (IOS-XR, JunOS, VyOS) need Component 5 adapted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RECKONING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01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08 · CLOSING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Claims, Revisited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2B272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682496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12-feature, header-only, encryption-agnostic detector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75320" y="1682496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Golden 12, Slide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2B272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517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2779776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CTGAN+SMOTEENN pipeline that makes rare attacks learnable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75320" y="2779776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Component 3, Slide 14  the algorithmic contribution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2B272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490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3877056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vendor-agnostic orchestrator driving Snort AND Suricata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75320" y="3877056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Component 4, Slide 15  exercised live in the case study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2B272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463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4974336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out-of-band design with zero synchronous latency, by construction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75320" y="4974336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21  0.00ms, architecturally guaranteed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"ISPs shouldn’t have to choose between watching for attacks and keeping the network fast. ADMO is a working demonstration that they don’t have to."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A4ACEE8-32E3-D340-6DAF-E0D3E03F406B}"/>
              </a:ext>
            </a:extLst>
          </p:cNvPr>
          <p:cNvSpPr/>
          <p:nvPr/>
        </p:nvSpPr>
        <p:spPr>
          <a:xfrm>
            <a:off x="11064240" y="6519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01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32464" y="560070"/>
            <a:ext cx="3896591" cy="17145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pic>
        <p:nvPicPr>
          <p:cNvPr id="3" name="Image 0" descr="assets/vanvitell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744" y="749808"/>
            <a:ext cx="2802512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3774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48640" y="3337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9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937760" y="4251960"/>
            <a:ext cx="2286000" cy="0"/>
          </a:xfrm>
          <a:prstGeom prst="line">
            <a:avLst/>
          </a:prstGeom>
          <a:noFill/>
          <a:ln w="12700">
            <a:solidFill>
              <a:srgbClr val="4540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5262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Ahson   (Matr. B33000053)
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Fiammetta Marulli
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della Campania "Luigi Vanvitelli"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9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0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 (IEEE Format)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49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I. Sharafaldin, A. H. Lashkari, and A. A. Ghorbani, “Toward generating a new intrusion detection dataset and intrusion traffic characterization,” in Proc. 4th Int. Conf. Inf. Syst. Secur. Privacy (ICISSP), Madeira, Portugal, Jan. 2018, pp. 108–116.</a:t>
            </a:r>
            <a:endParaRPr lang="en-US" sz="1050" dirty="0"/>
          </a:p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G. Engelen, V. Rimmer, and W. Joosen, “Troubleshooting an intrusion detection dataset: the CICIDS-2017 case study,” in Proc. IEEE Security and Privacy Workshops (SPW), San Francisco, CA, USA, May 2021, pp. 7–12.</a:t>
            </a:r>
            <a:endParaRPr lang="en-US" sz="1050" dirty="0"/>
          </a:p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M. Roesch, “Snort  Lightweight intrusion detection for networks,” in Proc. 13th USENIX Conf. Syst. Admin. (LISA), Seattle, WA, USA, Nov. 1999, pp. 229–238.</a:t>
            </a:r>
            <a:endParaRPr lang="en-US" sz="1050" dirty="0"/>
          </a:p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T. Chen and C. Guestrin, “XGBoost: A scalable tree boosting system,” in Proc. 22nd ACM SIGKDD Int. Conf. Knowl. Discov. Data Min. (KDD), San Francisco, CA, USA, Aug. 2016, pp. 785–794.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126480" y="1554480"/>
            <a:ext cx="5349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L. Xu, M. Skoularidou, A. Cuesta-Infante, and K. Veeramachaneni, “Modeling tabular data using conditional GAN,” in Adv. Neural Inf. Process. Syst. (NeurIPS), vol. 32, Vancouver, Canada, Dec. 2019.</a:t>
            </a:r>
            <a:endParaRPr lang="en-US" sz="1050" dirty="0"/>
          </a:p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D. Weissman and A. P. Jayasumana, “Deception through synthesis: Using AI-generated data to enhance IoT security,” in Proc. AI4EIoT 2026 Special Session, IoTBDS, Benidorm, Spain, May 2026.</a:t>
            </a:r>
            <a:endParaRPr lang="en-US" sz="1050" dirty="0"/>
          </a:p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Open Information Security Foundation (OISF), “Suricata 7.0 User Guide,” OISF, 2024. [Online]. Available: docs.suricata.io</a:t>
            </a:r>
            <a:endParaRPr lang="en-US" sz="1050" dirty="0"/>
          </a:p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20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Netgate, “pfSense Plus Documentation,” Netgate, Austin, TX, USA, 2024. [Online]. Available: docs.netgate.com/pfsense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14-entry reference list in IEEE numbered format: Thesis References, p. 82–83.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9345</Words>
  <Application>Microsoft Office PowerPoint</Application>
  <PresentationFormat>Widescreen</PresentationFormat>
  <Paragraphs>694</Paragraphs>
  <Slides>34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Cambria</vt:lpstr>
      <vt:lpstr>Cambria Math</vt:lpstr>
      <vt:lpstr>Courier New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Latency-Aware Network Protection — Thesis Defense</dc:title>
  <dc:subject>PptxGenJS Presentation</dc:subject>
  <dc:creator>Ali Ahson</dc:creator>
  <cp:lastModifiedBy>MUBASHIRUDDIN SIDDIQUI</cp:lastModifiedBy>
  <cp:revision>5</cp:revision>
  <dcterms:created xsi:type="dcterms:W3CDTF">2026-07-20T19:45:14Z</dcterms:created>
  <dcterms:modified xsi:type="dcterms:W3CDTF">2026-07-23T01:30:00Z</dcterms:modified>
</cp:coreProperties>
</file>